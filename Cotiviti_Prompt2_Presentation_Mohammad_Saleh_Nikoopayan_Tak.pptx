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c21a742fb941e2" /><Relationship Type="http://schemas.openxmlformats.org/officeDocument/2006/relationships/extended-properties" Target="/docProps/app.xml" Id="R90db04d58676449f" /><Relationship Type="http://schemas.openxmlformats.org/officeDocument/2006/relationships/officeDocument" Target="/ppt/presentation.xml" Id="R9adeb55da1904b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89d90aa3924070"/>
  </p:sldMasterIdLst>
  <p:notesMasterIdLst>
    <p:notesMasterId xmlns:r="http://schemas.openxmlformats.org/officeDocument/2006/relationships" r:id="R85f6fa013b834528"/>
  </p:notesMasterIdLst>
  <p:sldIdLst>
    <p:sldId xmlns:r="http://schemas.openxmlformats.org/officeDocument/2006/relationships" id="256" r:id="R7d16006511a84866"/>
    <p:sldId xmlns:r="http://schemas.openxmlformats.org/officeDocument/2006/relationships" id="257" r:id="R6da1ba873724470d"/>
    <p:sldId xmlns:r="http://schemas.openxmlformats.org/officeDocument/2006/relationships" id="258" r:id="Rc98ca5c2d3504f42"/>
    <p:sldId xmlns:r="http://schemas.openxmlformats.org/officeDocument/2006/relationships" id="259" r:id="R786a0190230c42df"/>
    <p:sldId xmlns:r="http://schemas.openxmlformats.org/officeDocument/2006/relationships" id="260" r:id="R1fccb6c23b354eb1"/>
    <p:sldId xmlns:r="http://schemas.openxmlformats.org/officeDocument/2006/relationships" id="261" r:id="R7b9d93dd82224840"/>
    <p:sldId xmlns:r="http://schemas.openxmlformats.org/officeDocument/2006/relationships" id="262" r:id="R164637e931a74842"/>
    <p:sldId xmlns:r="http://schemas.openxmlformats.org/officeDocument/2006/relationships" id="263" r:id="R78c25a8b6e1f4cf7"/>
    <p:sldId xmlns:r="http://schemas.openxmlformats.org/officeDocument/2006/relationships" id="264" r:id="R2512f892e8e1478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525a823f7c443b" /><Relationship Type="http://schemas.openxmlformats.org/officeDocument/2006/relationships/slideMaster" Target="/ppt/slideMasters/slideMaster1.xml" Id="Re189d90aa3924070" /><Relationship Type="http://schemas.openxmlformats.org/officeDocument/2006/relationships/notesMaster" Target="/ppt/notesMasters/notesMaster1.xml" Id="R85f6fa013b834528" /><Relationship Type="http://schemas.openxmlformats.org/officeDocument/2006/relationships/presProps" Target="/ppt/presProps.xml" Id="Rb8bf9dbf72ca42af" /><Relationship Type="http://schemas.openxmlformats.org/officeDocument/2006/relationships/tableStyles" Target="/ppt/tableStyles.xml" Id="R678de7893c1a472d" /><Relationship Type="http://schemas.openxmlformats.org/officeDocument/2006/relationships/slide" Target="/ppt/slides/slide1.xml" Id="R7d16006511a84866" /><Relationship Type="http://schemas.openxmlformats.org/officeDocument/2006/relationships/slide" Target="/ppt/slides/slide2.xml" Id="R6da1ba873724470d" /><Relationship Type="http://schemas.openxmlformats.org/officeDocument/2006/relationships/slide" Target="/ppt/slides/slide3.xml" Id="Rc98ca5c2d3504f42" /><Relationship Type="http://schemas.openxmlformats.org/officeDocument/2006/relationships/slide" Target="/ppt/slides/slide4.xml" Id="R786a0190230c42df" /><Relationship Type="http://schemas.openxmlformats.org/officeDocument/2006/relationships/slide" Target="/ppt/slides/slide5.xml" Id="R1fccb6c23b354eb1" /><Relationship Type="http://schemas.openxmlformats.org/officeDocument/2006/relationships/slide" Target="/ppt/slides/slide6.xml" Id="R7b9d93dd82224840" /><Relationship Type="http://schemas.openxmlformats.org/officeDocument/2006/relationships/slide" Target="/ppt/slides/slide7.xml" Id="R164637e931a74842" /><Relationship Type="http://schemas.openxmlformats.org/officeDocument/2006/relationships/slide" Target="/ppt/slides/slide8.xml" Id="R78c25a8b6e1f4cf7" /><Relationship Type="http://schemas.openxmlformats.org/officeDocument/2006/relationships/slide" Target="/ppt/slides/slide9.xml" Id="R2512f892e8e147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40674cec5d4f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dd769ace6a4a8c" /><Relationship Type="http://schemas.openxmlformats.org/officeDocument/2006/relationships/notesMaster" Target="/ppt/notesMasters/notesMaster1.xml" Id="Re5680a30860546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a8e904ce5748cc" /><Relationship Type="http://schemas.openxmlformats.org/officeDocument/2006/relationships/notesMaster" Target="/ppt/notesMasters/notesMaster1.xml" Id="Rb30f601021d943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dff68d1fef484f" /><Relationship Type="http://schemas.openxmlformats.org/officeDocument/2006/relationships/notesMaster" Target="/ppt/notesMasters/notesMaster1.xml" Id="R53726d3ce4d142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80fc0297c74043" /><Relationship Type="http://schemas.openxmlformats.org/officeDocument/2006/relationships/notesMaster" Target="/ppt/notesMasters/notesMaster1.xml" Id="Rbfa9ea7aadf844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e392da667348be" /><Relationship Type="http://schemas.openxmlformats.org/officeDocument/2006/relationships/notesMaster" Target="/ppt/notesMasters/notesMaster1.xml" Id="Rdb4e17f7cc7f4a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ff0db3c79947b4" /><Relationship Type="http://schemas.openxmlformats.org/officeDocument/2006/relationships/notesMaster" Target="/ppt/notesMasters/notesMaster1.xml" Id="R0ff6210efe114f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ebf4e457404455" /><Relationship Type="http://schemas.openxmlformats.org/officeDocument/2006/relationships/notesMaster" Target="/ppt/notesMasters/notesMaster1.xml" Id="R4a201a8233d04c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79b76ed92e4d91" /><Relationship Type="http://schemas.openxmlformats.org/officeDocument/2006/relationships/notesMaster" Target="/ppt/notesMasters/notesMaster1.xml" Id="Raf04d550dde543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b027d0899e4985" /><Relationship Type="http://schemas.openxmlformats.org/officeDocument/2006/relationships/notesMaster" Target="/ppt/notesMasters/notesMaster1.xml" Id="R47bd20ed86a949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thesis: the project is not generic healthcare automation. It is a Cotiviti-relevant payment integrity idea.</a:t>
            </a:r>
          </a:p>
          <a:p xmlns:a="http://schemas.openxmlformats.org/drawingml/2006/main">
            <a:r>
              <a:t>Say that the report and POC focus on graph pattern recognition, privacy-preserving collaboration, and evidence cards for human reviewers.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topic in plain language.</a:t>
            </a:r>
          </a:p>
          <a:p xmlns:a="http://schemas.openxmlformats.org/drawingml/2006/main">
            <a:r>
              <a:t>Emphasize that graph intelligence adds context and reasoning to ordinary claims analytics.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justify urgency.</a:t>
            </a:r>
          </a:p>
          <a:p xmlns:a="http://schemas.openxmlformats.org/drawingml/2006/main">
            <a:r>
              <a:t>Explain that the figures show pressure and opportunity, not that every improper payment is fraud.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business fit slide.</a:t>
            </a:r>
          </a:p>
          <a:p xmlns:a="http://schemas.openxmlformats.org/drawingml/2006/main">
            <a:r>
              <a:t>Connect the idea to Cotiviti's actual product footprint and not just technical excitement.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shows judgment.</a:t>
            </a:r>
          </a:p>
          <a:p xmlns:a="http://schemas.openxmlformats.org/drawingml/2006/main">
            <a:r>
              <a:t>Say that the investment must include governance, not just model development.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options as a roadmap.</a:t>
            </a:r>
          </a:p>
          <a:p xmlns:a="http://schemas.openxmlformats.org/drawingml/2006/main">
            <a:r>
              <a:t>The strongest recommendation is evidence-chain productization, supported by a narrow federated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evaluator through the POC flow before showing the actual app.</a:t>
            </a:r>
          </a:p>
          <a:p xmlns:a="http://schemas.openxmlformats.org/drawingml/2006/main">
            <a:r>
              <a:t>Say the POC is intentionally synthetic and transparent so the core engineering is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handoff slide before screensharing the browser POC.</a:t>
            </a:r>
          </a:p>
          <a:p xmlns:a="http://schemas.openxmlformats.org/drawingml/2006/main">
            <a:r>
              <a:t>Keep the demo short: train, federate, click a claim, export the evidence card.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decisively.</a:t>
            </a:r>
          </a:p>
          <a:p xmlns:a="http://schemas.openxmlformats.org/drawingml/2006/main">
            <a:r>
              <a:t>The key message is that this idea is novel enough to stand out but practical enough to pilot quickly.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b18493ba7c4b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fe645c737943c2" /><Relationship Type="http://schemas.openxmlformats.org/officeDocument/2006/relationships/slideLayout" Target="/ppt/slideLayouts/slideLayout1.xml" Id="Rfcb3f0d481234a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b3f0d481234a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a28ca69d44f15" /><Relationship Type="http://schemas.openxmlformats.org/officeDocument/2006/relationships/notesSlide" Target="/ppt/notesSlides/notesSlide1.xml" Id="R6527efbb17b542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3084a42fe4b0b" /><Relationship Type="http://schemas.openxmlformats.org/officeDocument/2006/relationships/notesSlide" Target="/ppt/notesSlides/notesSlide2.xml" Id="Ree0c4fe8fa184e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396f16bea4b20" /><Relationship Type="http://schemas.openxmlformats.org/officeDocument/2006/relationships/chart" Target="/ppt/slides/charts/chart1.xml" Id="R0d50252e614d4bec" /><Relationship Type="http://schemas.openxmlformats.org/officeDocument/2006/relationships/notesSlide" Target="/ppt/notesSlides/notesSlide3.xml" Id="R1808fcf1514340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935df4d584f53" /><Relationship Type="http://schemas.openxmlformats.org/officeDocument/2006/relationships/notesSlide" Target="/ppt/notesSlides/notesSlide4.xml" Id="R2adbdab812374f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09ab4650f4b05" /><Relationship Type="http://schemas.openxmlformats.org/officeDocument/2006/relationships/notesSlide" Target="/ppt/notesSlides/notesSlide5.xml" Id="R7d7bc21c83c247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845ae08134f4f" /><Relationship Type="http://schemas.openxmlformats.org/officeDocument/2006/relationships/notesSlide" Target="/ppt/notesSlides/notesSlide6.xml" Id="R12a8cc0ce09c43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cd8f7f9bf4765" /><Relationship Type="http://schemas.openxmlformats.org/officeDocument/2006/relationships/notesSlide" Target="/ppt/notesSlides/notesSlide7.xml" Id="Rc3768033682942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7616ca98748fa" /><Relationship Type="http://schemas.openxmlformats.org/officeDocument/2006/relationships/image" Target="/ppt/media/image.png" Id="Ref6523f53b274b68" /><Relationship Type="http://schemas.openxmlformats.org/officeDocument/2006/relationships/notesSlide" Target="/ppt/notesSlides/notesSlide8.xml" Id="Red357de7a9884c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587d3cbc14c80" /><Relationship Type="http://schemas.openxmlformats.org/officeDocument/2006/relationships/notesSlide" Target="/ppt/notesSlides/notesSlide9.xml" Id="R4fc47231f2634bb2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Improper payments, $B</c:v>
          </c:tx>
          <c:spPr>
            <a:solidFill xmlns:a="http://schemas.openxmlformats.org/drawingml/2006/main">
              <a:srgbClr val="255B9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FFS</c:v>
              </c:pt>
              <c:pt idx="1">
                <c:v>Part C</c:v>
              </c:pt>
              <c:pt idx="2">
                <c:v>Part D</c:v>
              </c:pt>
              <c:pt idx="3">
                <c:v>Medicaid</c:v>
              </c:pt>
            </c:strLit>
          </c:cat>
          <c:val>
            <c:numLit>
              <c:formatCode>General</c:formatCode>
              <c:ptCount val="4"/>
              <c:pt idx="0">
                <c:v>28.83</c:v>
              </c:pt>
              <c:pt idx="1">
                <c:v>23.67</c:v>
              </c:pt>
              <c:pt idx="2">
                <c:v>4.23</c:v>
              </c:pt>
              <c:pt idx="3">
                <c:v>37.39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97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4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/>
                  <a:t>$B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975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3E4FB0-40DA-43F6-A2A1-E6CE8957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31324-7CE2-4A49-B54F-88520678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COTIVITI INTERN ASSESSMENT | PROMPT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579DC-6F7B-489D-8154-87BFEF65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857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1820"/>
                </a:solidFill>
              </a:defRPr>
            </a:pPr>
            <a:r>
              <a:rPr sz="4200" b="1">
                <a:solidFill>
                  <a:srgbClr val="101820"/>
                </a:solidFill>
              </a:rPr>
              <a:t>Federated Claim-Graph Intelligence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80134-27D8-49AF-9F3F-3E9CBC32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975"/>
                </a:solidFill>
              </a:defRPr>
            </a:pPr>
            <a:r>
              <a:rPr sz="1800" b="0">
                <a:solidFill>
                  <a:srgbClr val="5F6975"/>
                </a:solidFill>
              </a:rPr>
              <a:t>A reviewer cockpit for privacy-preserving pattern recognition and auditor-ready evidence cards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6D522-921D-4F49-B289-2FD1E39B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581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Author: Mohammad Saleh Nikoopayan Tak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B0218-F352-498E-B625-1C936761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Report + Hackathon POC + Slide Overview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B3847-0894-4E7D-BA59-AE90C534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123950"/>
            <a:ext cx="29718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D13F94-4940-4100-85C7-766EA269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28441">
            <a:off x="9296400" y="195262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97951-C453-46BE-BF02-F61669AD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17277">
            <a:off x="9277350" y="3028950"/>
            <a:ext cx="628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C064E-56B6-4829-B9F5-91499CF0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79722">
            <a:off x="9906000" y="24955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924C0-AEB0-4C1D-94FA-D5E1C696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21543">
            <a:off x="9906000" y="3028950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C53AB9-8A1D-422D-98BB-646A4821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52700"/>
            <a:ext cx="9525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894F3-7F76-4ACC-BAFE-D07D84C8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8607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45CD2-93F7-4BFC-BCF6-211B69B9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57162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20D1D-A8E2-4250-8D9C-9A314584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097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35EF8-D8B5-4FBB-9780-42FCBCC6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2427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697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B8D030-B42F-4AD6-A507-3887616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Member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3F448-AE60-4C8B-A4CD-9051F3F8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152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B4327-0255-45B4-BB51-23066F60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352675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20BC0-97C8-4360-A470-56EBAB03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338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0C8BC9-1208-4468-8F0B-BEF22BE5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933825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F14302-6F51-4EC9-9DF7-35EB968B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E62E1-1309-4E54-A35F-C41600C9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006546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E7D38D-7D04-4085-AE23-C795193C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TOPIC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9FDF0-A8BE-48FD-9130-81F14437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claim is a relationship graph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97796-C59C-447B-9AD3-A820650E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Prompt 2 narrowed to clinical decision making and pattern recognition for payment operations.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8B4DA-7E15-4F14-AB86-C20C45B7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0"/>
                </a:solidFill>
              </a:defRPr>
            </a:pPr>
            <a:r>
              <a:rPr sz="1725" b="0">
                <a:solidFill>
                  <a:srgbClr val="101820"/>
                </a:solidFill>
              </a:rPr>
              <a:t>Instead of treating a claim as a flat row, the system links member, provider, CPT, diagnosis, time, modifier, peer group, and policy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9794A-55E8-470C-A09B-A136897C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71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Output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95D31-45F5-4191-A40D-EA3A9866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65F50-AC3C-4E90-9597-3B150634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Classification: is this claim likely clean, questionable, or urgent?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42300-9FAC-4D52-B890-6B2ACE13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67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5804F-9F56-4EE4-AA46-A0199E30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91025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Inference: which relationship explains the risk?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AD630-A18D-453D-B5C6-51151FD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72645-7CB6-4F41-8803-1E69368B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Clustering: which providers, codes, and members form unusual groups?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B3E07-E011-4A6C-BFA8-DC6C9730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24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BCF11-EB27-4210-AD54-6A5818EC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48275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Time-series anomaly detection: what changed suddenly?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6EDA2-88DB-4D35-A07A-7E138A85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476250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13125A-9688-45E3-A10A-07A93F88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733661">
            <a:off x="7524750" y="2781300"/>
            <a:ext cx="1333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09A9F-23AB-4F2F-AA8F-59AB78C5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161642">
            <a:off x="8858250" y="2781300"/>
            <a:ext cx="125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3DF53-D47B-48C0-8A7C-0FEE9D74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426420">
            <a:off x="7543800" y="3695700"/>
            <a:ext cx="1314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776E2A-9766-4433-9A42-2D3989C4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74896">
            <a:off x="8858250" y="36957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223B0-CD73-4F1C-A1A0-CFA1683F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858250" y="2238375"/>
            <a:ext cx="9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6F17C-92A8-447A-AF5B-AAEAC6E5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813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6A718E-7AA3-4AED-ABA5-D9E12421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52825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BCDD4A-4055-44BE-A09B-7A2A5633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812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1D4DEA-CEC9-4A32-ADF6-63F57D2D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38425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2CEE54-A8EF-428D-A9FD-C7248621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A48051-1CC6-45BA-88A6-51DA9AF7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AFD828-5AD5-4423-9BF4-42339A65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815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697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E07792-A1BD-4187-A69E-42956334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38675"/>
            <a:ext cx="80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Member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339674-7D58-478D-A967-4901F4CB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196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2B70A8-E859-428F-A5AD-F7715717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38675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4F543E-68C0-4AAB-8E8F-42CB70C6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14525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23FF03-A9BF-465E-A7B0-843E1306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9550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13255E-9B9C-4B6B-9C04-27E8D7EA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72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Design principle: no score without a story.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C262D6-3BF9-45E8-9A15-CB7A8B4F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769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975"/>
                </a:solidFill>
              </a:defRPr>
            </a:pPr>
            <a:r>
              <a:rPr sz="1350" b="1">
                <a:solidFill>
                  <a:srgbClr val="5F6975"/>
                </a:solidFill>
              </a:rPr>
              <a:t>No automated payment action without human review.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47DFCB-B9F5-405C-9ABA-F20629F4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67EF21-72C7-4DCD-87CF-615C2029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489883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90DCF5-A74A-4235-8A80-268AFAA2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8F576-59DD-4698-8DAF-7DB9CCF9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Pressure, connectivity,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DD3C1-1A5D-445F-9F89-AA6F4610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market is ready because payment risk is visible, payer data is more connected, and AI governance expectations are rising.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108CE-FA2D-4FCB-99E2-C0538674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A5F15-9733-447A-BC82-F0504CD4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$94B+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91C33-5F7C-4C62-BEB9-A02F5361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FY 2025 CMS improper payment estimates across Medicare FFS, Part C, Part D, and Medicaid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2E13A-8C38-4139-88A4-A104A2CB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BAC5B-2976-4FDD-A602-A679193E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56A00"/>
                </a:solidFill>
              </a:defRPr>
            </a:pPr>
            <a:r>
              <a:rPr sz="2850" b="1">
                <a:solidFill>
                  <a:srgbClr val="C56A00"/>
                </a:solidFill>
              </a:rPr>
              <a:t>455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557B0-BAD1-49A4-A2B4-07AB561E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Defendants charged in DOJ's June 23, 2026 health care fraud takedown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3A493-723B-4F38-8B7C-D430D1DC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1455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13F74D-5C0A-4150-AA29-58B7CBDB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241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766E"/>
                </a:solidFill>
              </a:defRPr>
            </a:pPr>
            <a:r>
              <a:rPr sz="2850" b="1">
                <a:solidFill>
                  <a:srgbClr val="0F766E"/>
                </a:solidFill>
              </a:rPr>
              <a:t>$21.2B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F9B1B-87EF-494C-BBEB-5AA23AA2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146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Suspect FWA claims Cotiviti says it identified for clients in 2025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8267700" y="2000250"/>
          <a:ext xmlns:a="http://schemas.openxmlformats.org/drawingml/2006/main" cx="3238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50252e614d4be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3D5DB-07B5-48AC-AB3E-2695EB14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Strategic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966245-1CDD-4142-AA6F-4ACA0DFC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94811F-1ACD-4C75-8AB2-78A778AB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Earlier lead prioritization matters because bad payments are expensive to chase after the fact.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5F888B-7807-4CEB-ABBA-1A7405DB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910F4D-A4AD-408D-A6B6-AEAFF8E3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Interoperability makes richer graph features possible across claims, policies, encounters, and contracts.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F9980-0C64-4B4A-80B4-650EEDEE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4D9A3E-C8FF-4B06-AB34-671D7C5C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911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Trust becomes a feature: privacy, explainability, human review, and drift monitoring have to be built 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476EF-F038-41F4-B381-7B74A56B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Sources: CMS FY 2025 improper payments fact sheet; DOJ June 23, 2026 takedown; Cotiviti FWA Pattern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87977-659E-42D1-8EAA-8C28FE2A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406302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A2BDB8-84BD-4B53-AAA6-0AE56D87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COTIVITI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E2C74-3E23-43A1-A908-D5EA739F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natural extension of payment accuracy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2EFE5-6B36-4945-B986-B299229A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strongest angle is not novelty alone. It is a practical layer on top of Cotiviti's existing strengths.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92E95-4153-45F8-AEFD-E6076B55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5ED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5CDD1-6506-4F5C-BDC9-11E2D4D8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A9130-5A95-4F83-88D1-74C3EEEE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Payment accuracy 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E010D-5AA2-420F-8363-E80E0624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Cotiviti already operates across claim accuracy, payment policy, coding validation, clinical review, data mining, contracts, coordination of benefits, and FWA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5F593-309F-43D9-8766-3A943561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E76CA-06AB-4F15-ADFB-7C29DC9E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1A2CA-753D-4420-85A5-6160B7F5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Interoperability flywheel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867862-1F77-4801-95C2-3C5203C2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The Edifecs acquisition can strengthen the data fabric needed for connected claim, policy, encounter, and contract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70C72-4E07-4C56-8AD9-6EE54130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4480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0D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97141-B042-4094-8C5E-D40D088D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501295-B0F7-4D55-82BA-1382A6B3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575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Managed-service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F2C3A-3D1B-405F-AA86-50AC7ABD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195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Cotiviti can package evidence cards with specialist review, case tracking, client governance, and provider-facing defensibility.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06C670-AAE7-43ED-92A6-EF5FB2C8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007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Positioning: broaden learning across payers without broadening raw data exposure.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4AF8D-283C-458F-8AC2-04469C22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Sources: Cotiviti payment accuracy pages; Cotiviti Edifecs acquisition announcement.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D902E-C83C-4CAE-BB28-82C9980F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61811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7C83A0-5812-4824-AB3D-81F36618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THREATS AND GUARDRAILS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17D80-2A25-41D1-ABC0-1ADE29FB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Do not ship a black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BB3C6-0F42-4AA0-A1BB-CF2B7131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strategic risk is not that the model is imperfect. The risk is acting on a score without context, controls, or accountability.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853C7-9DD8-428C-9E31-1D55DBE2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47E2E-E584-4E6F-BC75-2B793DD7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False positives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3ABB7-4C7D-4B92-9AF0-8161AFFF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Lead fatigue, delayed payment, and provider abrasion.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A1FA5-83F2-485D-9E0A-44200669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431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0BEA0-AB24-4065-A6B7-B8B608FA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050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Calibrate thresholds by domain and require human review before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D1D90-D3ED-4131-8FC3-808A0392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BB178-32E8-48D1-A588-DD82A40C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Bias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77C92-C6A8-4205-9B12-83EE3AFA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Payer mix and access patterns can masquerade as misconduct.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F3165-131A-4E48-AD48-9DECDE70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A5DD2-6669-4945-8675-66CFA87D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194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Monitor cohorts, explain features, and use appeal outcomes as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2C580-5A61-4492-8345-4F379D15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66E6D-5067-40D6-A907-547000FA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Privacy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5A88D-ED28-49BC-B4A1-2C91C263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671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Model updates and aggregates can reveal sensitive patterns.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03E0A3-35F7-4B8C-BAF1-3C472DD9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E4FF86-5A21-4DB2-90C1-5E936C8D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338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Use secure aggregation, minimum cohort sizes, and client approval gates.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3454B9-1B69-4DD9-88C3-2F2B55CA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7C45E6-316E-45F0-B7B6-DD571800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Adversarial adaptation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6051B5-B8CF-410B-87FA-537B86C4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3390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Fraud patterns shift once signals are learned.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DC4C1F-3DE9-453A-B5A9-9B56D221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4476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E84B2B-BDD7-4FDF-881E-3E8A8D3F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482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0"/>
                </a:solidFill>
              </a:defRPr>
            </a:pPr>
            <a:r>
              <a:rPr sz="1350" b="0">
                <a:solidFill>
                  <a:srgbClr val="101820"/>
                </a:solidFill>
              </a:rPr>
              <a:t>Track drift, rotate features, and treat investigator notes as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1CFC43-622A-4716-BDB9-77087A66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Governance frame aligned to NIST AI RMF: govern, map, measure, manage.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207292-FAA0-4D94-ABED-1B3CC4C9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000879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43C49D-AAFD-49CC-A285-912B8F27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STRATEGIC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E602B-2921-4E41-AC4B-E40B285A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Three investable moves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FC2D3-5787-4872-A6FB-38482CF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recommendation is to start narrow, prove lift, then turn the evidence card into a reusable product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F879E-6EEA-47A1-97B0-AF6D00FC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6C74B-E9BA-4180-AD73-8FEAC3E9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08F5C-B7BD-4DF1-B169-5BA1B474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37191-D0A0-4898-ABB3-A7155ED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Claim-Graph Utility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CB8CB-FE37-42BA-AB1B-A17D4117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Create reusable entities, edges, graph features, and explainers for prepay and postpay analytics.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2E57E-4F5A-46FB-8176-D1F913E7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5903D-4131-4733-A723-65AAA275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C1A37-747D-4CC9-860C-BC991EEA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687AD-97FD-4B06-A5AC-D61BA8F1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Cross-Payer Signal Exchange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592794-0B83-4198-9A69-BA20A859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Pilot privacy-preserving aggregate learning where raw claims remain inside each client boundary.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62EDFC-58AD-424C-9A45-3139C929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480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04B39F-82DD-4D33-8754-77A85596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2E97-FE7B-4CB8-8D31-D54A2869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86315-F5B9-4376-9F6F-93262FBD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Evidence Card 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1CA503-190C-41C2-BBB8-EF54020A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Show graph path, peer comparison, time-series change, code-policy rationale, confidence, model-card note, reviewer override reason, and next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37948-B5F8-49F9-B9EE-BA04634B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10953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9A8569-C9F5-48D5-8D2C-E4EAC9F8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25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Recommended starting point: pair Option 3 with a narrow Option 2 shadow-mode pilot in one domain such as wound care, DME, high-volume labs, or behavioral health.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9B7B3-0696-4B97-9EE7-CA0DB86C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1FF9A-8C78-4624-AC87-6FA5C631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87203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0E07CD-A1C8-4029-8C77-01318F2B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HACKATHON POC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4F0163-B2E9-4AF1-86F5-C56AC476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Claim Integrity Radar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75C50-FA35-4CF0-AB82-7ADB9FAA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prototype proves the first principles without overbuilding.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8F571-723B-4B86-955B-31EB3132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6C5256-CE02-41D5-B8A6-AF8BF6FA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Synthetic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3990A-4672-45D2-894D-D6E6CAE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Generate payer, provider, member, CPT, diagnosis, modifier, week, units, and amount.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8E03D-0AD9-4920-B409-D9B558D7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0D6DA7-A2C2-4FAF-8DAB-E7C6839F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6414AA-E0F8-4B2C-905D-460519FD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Local baselines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C7647D-E162-4E11-9DE2-975665EE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Train peer norms by client, domain, specialty, procedure, and week.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E584A-C74E-43D2-9F94-0EFD538B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8E19F4-09E0-4EA9-BD30-82C0FB7C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D9F0EC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EC8311-1F59-4293-B398-0D6DB7A3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Federated summary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5ADFE-0A0A-4A64-9E54-39AC94F6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Share aggregate percentiles and drift signals only. Raw member records stay local.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C30F8-65CF-4FE1-96FF-E2999211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34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9DEE5"/>
                </a:solidFill>
              </a:defRPr>
            </a:pPr>
            <a:r>
              <a:rPr sz="3150" b="1">
                <a:solidFill>
                  <a:srgbClr val="D9DEE5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E6C07-300C-4C65-BD5C-878997C1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62200"/>
            <a:ext cx="2381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76274C-EDE1-42A4-87E4-34CB18F5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098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0"/>
                </a:solidFill>
              </a:defRPr>
            </a:pPr>
            <a:r>
              <a:rPr sz="1725" b="1">
                <a:solidFill>
                  <a:srgbClr val="101820"/>
                </a:solidFill>
              </a:rPr>
              <a:t>Evidence card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73AE2-402F-45C9-9C9E-0FC3D601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432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975"/>
                </a:solidFill>
              </a:defRPr>
            </a:pPr>
            <a:r>
              <a:rPr sz="1275" b="0">
                <a:solidFill>
                  <a:srgbClr val="5F6975"/>
                </a:solidFill>
              </a:rPr>
              <a:t>Score anomalies, render graph paths, and recommend a human review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B8BF03-C80B-4AF5-8BEE-24BBD593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9486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5D30D7-90FA-4BC3-8EF8-B98FF349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057775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0"/>
                </a:solidFill>
              </a:defRPr>
            </a:pPr>
            <a:r>
              <a:rPr sz="1650" b="1">
                <a:solidFill>
                  <a:srgbClr val="101820"/>
                </a:solidFill>
              </a:rPr>
              <a:t>Proof point: the demo can be shown in under three minutes, and every score has a reviewer-readable evidence card.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0EF52-A418-4188-9D01-FE092A8B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32F525-CD17-4213-8989-263077CB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329199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7784DA-99FA-45A9-9C38-49171BD0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DEMO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5A7EB-3BE5-4399-B9A1-24538EF5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What the evaluator should notice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B0371-9352-4D76-82E7-FA4FDE1D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The demo is built to prove speed to value, not production completeness.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523f53b274b68"/>
          <a:srcRect xmlns:a="http://schemas.openxmlformats.org/drawingml/2006/main" l="0" t="4875" r="0" b="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1752600"/>
            <a:ext cx="6838950" cy="3857625"/>
          </a:xfrm>
          <a:prstGeom xmlns:a="http://schemas.openxmlformats.org/drawingml/2006/main" prst="roundRect">
            <a:avLst>
              <a:gd name="adj" fmla="val 1975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6586D-D5E1-4AE3-9117-F447AB59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375285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FEE35-88B1-43D0-B397-82BF7DC3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5B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8F987-159D-473C-91C1-EFD07DF0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Train Local Baselines: peer-group learning.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254ED-53E9-441F-9687-D1950B22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3CE0D-3A50-4BEB-9DFD-B65AB59E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Share Federated Summary: zero raw records shared.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0CB18-351F-4315-97B5-534AAD8E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E10F9-6F5B-4462-874A-AE601764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Select high-risk claim: graph path plus evidence card.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C611A-9927-4CEE-8131-73341343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AC7B6-FFB0-45D5-8EE9-300A3288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0"/>
                </a:solidFill>
              </a:defRPr>
            </a:pPr>
            <a:r>
              <a:rPr sz="1425" b="0">
                <a:solidFill>
                  <a:srgbClr val="101820"/>
                </a:solidFill>
              </a:rPr>
              <a:t>Export Evidence Card: reviewer handoff.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2F2AE-1E6F-48E6-99B4-CB73F7BA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975"/>
                </a:solidFill>
              </a:defRPr>
            </a:pPr>
            <a:r>
              <a:rPr sz="825" b="0">
                <a:solidFill>
                  <a:srgbClr val="5F6975"/>
                </a:solidFill>
              </a:rPr>
              <a:t>Asset: screenshot from the included Claim Integrity Radar POC.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B4A78-177F-47CA-B595-B47997CC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632907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CBA96E-CCCC-4009-B82A-489C2C8C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RECOMMENDED 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4ABD2-2710-4190-9D1C-C54910CB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0"/>
                </a:solidFill>
              </a:defRPr>
            </a:pPr>
            <a:r>
              <a:rPr sz="2925" b="1">
                <a:solidFill>
                  <a:srgbClr val="101820"/>
                </a:solidFill>
              </a:rPr>
              <a:t>A 90-day pilot for speed to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7684D-2F00-4853-83FB-A1A26231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975"/>
                </a:solidFill>
              </a:defRPr>
            </a:pPr>
            <a:r>
              <a:rPr sz="1500" b="0">
                <a:solidFill>
                  <a:srgbClr val="5F6975"/>
                </a:solidFill>
              </a:rPr>
              <a:t>Constrain the domain, measure lift, and decide whether to invest in a reusable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00A21-6D3E-4A34-A6E3-8DAF9B08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5B9B"/>
                </a:solidFill>
              </a:defRPr>
            </a:pPr>
            <a:r>
              <a:rPr sz="1350" b="1">
                <a:solidFill>
                  <a:srgbClr val="255B9B"/>
                </a:solidFill>
              </a:rPr>
              <a:t>Weeks 1-2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52212-E055-45EE-AD34-211214B7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097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Pick one domain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BD069-583B-4D77-A13C-14CCCD72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38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Wound care, DME, high-volume labs, or behavioral health.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142DB3-E184-4D79-9834-E7A05B3E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EACE4-8DDA-44B4-A911-45C92A01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Weeks 3-6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942B0-D8DD-4628-99A9-889CA8EB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479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Build graph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CC58C-7528-4B5B-9B2C-FDA2574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765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Entity resolution, peer baselines, time windows, and policy hooks.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BD0AA-76DA-4E76-9573-BDCF900A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B94CD-5CED-4FE4-93B4-9C8F7BEE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6A00"/>
                </a:solidFill>
              </a:defRPr>
            </a:pPr>
            <a:r>
              <a:rPr sz="1350" b="1">
                <a:solidFill>
                  <a:srgbClr val="C56A00"/>
                </a:solidFill>
              </a:rPr>
              <a:t>Weeks 7-10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42B8EF-8FD5-453F-93EA-A61C1441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Shadow-mode comparison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16E81-61AA-431E-A474-4596B616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14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Precision, recall proxy, reviewer agreement, provider abrasion, and turnaround.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E6A73C-02D9-4AA8-A27A-474E60E8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A98AF-BD38-4000-B644-3064754D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Weeks 11-12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B9045-446D-4202-8D15-7B57EA93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243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0"/>
                </a:solidFill>
              </a:defRPr>
            </a:pPr>
            <a:r>
              <a:rPr sz="1800" b="1">
                <a:solidFill>
                  <a:srgbClr val="101820"/>
                </a:solidFill>
              </a:rPr>
              <a:t>Investment decision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63BFF-CF8D-4340-8665-45D3DADC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529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975"/>
                </a:solidFill>
              </a:defRPr>
            </a:pPr>
            <a:r>
              <a:rPr sz="1350" b="0">
                <a:solidFill>
                  <a:srgbClr val="5F6975"/>
                </a:solidFill>
              </a:rPr>
              <a:t>Scale, pivot, or stop based on lift and governance readiness.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BE0A6-CA8E-491C-AD78-64E8B9DC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79D0C9-B616-4963-A30C-2E3DEAA0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1820"/>
                </a:solidFill>
              </a:defRPr>
            </a:pPr>
            <a:r>
              <a:rPr sz="2550" b="1">
                <a:solidFill>
                  <a:srgbClr val="101820"/>
                </a:solidFill>
              </a:rPr>
              <a:t>Close with the thesis: no score without a story.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64B97-224E-4DD6-8E27-7DB4BBA3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5790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975"/>
                </a:solidFill>
              </a:defRPr>
            </a:pPr>
            <a:r>
              <a:rPr sz="1500" b="1">
                <a:solidFill>
                  <a:srgbClr val="5F6975"/>
                </a:solidFill>
              </a:rPr>
              <a:t>The cockpit supports reviewers rather than replacing them.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A211E-03A3-468E-B830-65D48560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BF5998-A6E9-4071-A3DB-A10229D1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975"/>
                </a:solidFill>
              </a:defRPr>
            </a:pPr>
            <a:r>
              <a:rPr sz="1125" b="0">
                <a:solidFill>
                  <a:srgbClr val="5F697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3728949"/>
      </p:ext>
    </p:extLst>
  </p:cSld>
</p:sld>
</file>

<file path=ppt/theme/theme1.xml><?xml version="1.0" encoding="utf-8"?>
<a:theme xmlns:a="http://schemas.openxmlformats.org/drawingml/2006/main" name="Cotiviti">
  <a:themeElements>
    <a:clrScheme name="Cotiviti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tiviti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2026-06-29T00:55:54.0000000Z</dcterms:created>
  <dcterms:modified xsi:type="dcterms:W3CDTF">2026-06-29T00:55:54.0000000Z</dcterms:modified>
</coreProperties>
</file>