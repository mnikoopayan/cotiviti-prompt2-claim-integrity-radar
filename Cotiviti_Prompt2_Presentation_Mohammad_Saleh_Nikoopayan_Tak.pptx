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deac75a604c2e" /><Relationship Type="http://schemas.openxmlformats.org/officeDocument/2006/relationships/extended-properties" Target="/docProps/app.xml" Id="R5b64207684d84c72" /><Relationship Type="http://schemas.openxmlformats.org/officeDocument/2006/relationships/officeDocument" Target="/ppt/presentation.xml" Id="R577b5820c9f9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709113e2ae4e12"/>
  </p:sldMasterIdLst>
  <p:notesMasterIdLst>
    <p:notesMasterId xmlns:r="http://schemas.openxmlformats.org/officeDocument/2006/relationships" r:id="R7d53dde29a1f4345"/>
  </p:notesMasterIdLst>
  <p:sldIdLst>
    <p:sldId xmlns:r="http://schemas.openxmlformats.org/officeDocument/2006/relationships" id="256" r:id="Ree87cfa1fd9444fc"/>
    <p:sldId xmlns:r="http://schemas.openxmlformats.org/officeDocument/2006/relationships" id="257" r:id="Rb97bdbf693704684"/>
    <p:sldId xmlns:r="http://schemas.openxmlformats.org/officeDocument/2006/relationships" id="258" r:id="R211b6fb151ad48ff"/>
    <p:sldId xmlns:r="http://schemas.openxmlformats.org/officeDocument/2006/relationships" id="259" r:id="Rc7209f37e8e34fd6"/>
    <p:sldId xmlns:r="http://schemas.openxmlformats.org/officeDocument/2006/relationships" id="260" r:id="Rb426190d9b9f4f33"/>
    <p:sldId xmlns:r="http://schemas.openxmlformats.org/officeDocument/2006/relationships" id="261" r:id="R37952a4130e24388"/>
    <p:sldId xmlns:r="http://schemas.openxmlformats.org/officeDocument/2006/relationships" id="262" r:id="Rcca7288abceb430d"/>
    <p:sldId xmlns:r="http://schemas.openxmlformats.org/officeDocument/2006/relationships" id="263" r:id="R5ef46b10e53043b5"/>
    <p:sldId xmlns:r="http://schemas.openxmlformats.org/officeDocument/2006/relationships" id="264" r:id="R6f6ab377b0fb47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cc476066dd4f47" /><Relationship Type="http://schemas.openxmlformats.org/officeDocument/2006/relationships/slideMaster" Target="/ppt/slideMasters/slideMaster1.xml" Id="Ra6709113e2ae4e12" /><Relationship Type="http://schemas.openxmlformats.org/officeDocument/2006/relationships/notesMaster" Target="/ppt/notesMasters/notesMaster1.xml" Id="R7d53dde29a1f4345" /><Relationship Type="http://schemas.openxmlformats.org/officeDocument/2006/relationships/presProps" Target="/ppt/presProps.xml" Id="Rd1d2fe13e45e49f5" /><Relationship Type="http://schemas.openxmlformats.org/officeDocument/2006/relationships/tableStyles" Target="/ppt/tableStyles.xml" Id="R1ea9ddb00b394267" /><Relationship Type="http://schemas.openxmlformats.org/officeDocument/2006/relationships/slide" Target="/ppt/slides/slide1.xml" Id="Ree87cfa1fd9444fc" /><Relationship Type="http://schemas.openxmlformats.org/officeDocument/2006/relationships/slide" Target="/ppt/slides/slide2.xml" Id="Rb97bdbf693704684" /><Relationship Type="http://schemas.openxmlformats.org/officeDocument/2006/relationships/slide" Target="/ppt/slides/slide3.xml" Id="R211b6fb151ad48ff" /><Relationship Type="http://schemas.openxmlformats.org/officeDocument/2006/relationships/slide" Target="/ppt/slides/slide4.xml" Id="Rc7209f37e8e34fd6" /><Relationship Type="http://schemas.openxmlformats.org/officeDocument/2006/relationships/slide" Target="/ppt/slides/slide5.xml" Id="Rb426190d9b9f4f33" /><Relationship Type="http://schemas.openxmlformats.org/officeDocument/2006/relationships/slide" Target="/ppt/slides/slide6.xml" Id="R37952a4130e24388" /><Relationship Type="http://schemas.openxmlformats.org/officeDocument/2006/relationships/slide" Target="/ppt/slides/slide7.xml" Id="Rcca7288abceb430d" /><Relationship Type="http://schemas.openxmlformats.org/officeDocument/2006/relationships/slide" Target="/ppt/slides/slide8.xml" Id="R5ef46b10e53043b5" /><Relationship Type="http://schemas.openxmlformats.org/officeDocument/2006/relationships/slide" Target="/ppt/slides/slide9.xml" Id="R6f6ab377b0fb47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172986e99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bd673acb174570" /><Relationship Type="http://schemas.openxmlformats.org/officeDocument/2006/relationships/notesMaster" Target="/ppt/notesMasters/notesMaster1.xml" Id="Rff66f29635f746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a01a35925e4a39" /><Relationship Type="http://schemas.openxmlformats.org/officeDocument/2006/relationships/notesMaster" Target="/ppt/notesMasters/notesMaster1.xml" Id="Rd302a8b4882f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dbcbcc1ea48c3" /><Relationship Type="http://schemas.openxmlformats.org/officeDocument/2006/relationships/notesMaster" Target="/ppt/notesMasters/notesMaster1.xml" Id="R19cfe5c366bd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3eeb6446b4cca" /><Relationship Type="http://schemas.openxmlformats.org/officeDocument/2006/relationships/notesMaster" Target="/ppt/notesMasters/notesMaster1.xml" Id="Rf8b4e8b5ee78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3a847dbe24031" /><Relationship Type="http://schemas.openxmlformats.org/officeDocument/2006/relationships/notesMaster" Target="/ppt/notesMasters/notesMaster1.xml" Id="R4e8c738c1b374a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28ea5f718540d0" /><Relationship Type="http://schemas.openxmlformats.org/officeDocument/2006/relationships/notesMaster" Target="/ppt/notesMasters/notesMaster1.xml" Id="Raa6c523ef7f24a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178e0018044706" /><Relationship Type="http://schemas.openxmlformats.org/officeDocument/2006/relationships/notesMaster" Target="/ppt/notesMasters/notesMaster1.xml" Id="Rf93edb8c6d0e4b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3bf77199741b3" /><Relationship Type="http://schemas.openxmlformats.org/officeDocument/2006/relationships/notesMaster" Target="/ppt/notesMasters/notesMaster1.xml" Id="Rce62b2cbb77742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6139de8c54abe" /><Relationship Type="http://schemas.openxmlformats.org/officeDocument/2006/relationships/notesMaster" Target="/ppt/notesMasters/notesMaster1.xml" Id="R98903e2bc6b2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the project is not generic healthcare automation. It is a Cotiviti-relevant payment integrity idea.</a:t>
            </a:r>
          </a:p>
          <a:p xmlns:a="http://schemas.openxmlformats.org/drawingml/2006/main">
            <a:r>
              <a:t>Say that the report and POC focus on graph pattern recognition, privacy-preserving collaboration, and explainable review queues.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topic in plain language.</a:t>
            </a:r>
          </a:p>
          <a:p xmlns:a="http://schemas.openxmlformats.org/drawingml/2006/main">
            <a:r>
              <a:t>Emphasize that graph intelligence adds context and reasoning to ordinary claims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justify urgency.</a:t>
            </a:r>
          </a:p>
          <a:p xmlns:a="http://schemas.openxmlformats.org/drawingml/2006/main">
            <a:r>
              <a:t>Explain that the figures show pressure and opportunity, not that every improper payment is fraud.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business fit slide.</a:t>
            </a:r>
          </a:p>
          <a:p xmlns:a="http://schemas.openxmlformats.org/drawingml/2006/main">
            <a:r>
              <a:t>Connect the idea to Cotiviti's actual product footprint and not just technical excitement.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judgment.</a:t>
            </a:r>
          </a:p>
          <a:p xmlns:a="http://schemas.openxmlformats.org/drawingml/2006/main">
            <a:r>
              <a:t>Say that the investment must include governance, not just model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options as a roadmap.</a:t>
            </a:r>
          </a:p>
          <a:p xmlns:a="http://schemas.openxmlformats.org/drawingml/2006/main">
            <a:r>
              <a:t>The strongest recommendation is evidence-chain productization, supported by a narrow federated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evaluator through the POC flow before showing the actual app.</a:t>
            </a:r>
          </a:p>
          <a:p xmlns:a="http://schemas.openxmlformats.org/drawingml/2006/main">
            <a:r>
              <a:t>Say the POC is intentionally synthetic and transparent so the core engineering is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handoff slide before screensharing the browser POC.</a:t>
            </a:r>
          </a:p>
          <a:p xmlns:a="http://schemas.openxmlformats.org/drawingml/2006/main">
            <a:r>
              <a:t>Keep the demo short: train, federate, click a claim, export packet.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decisively.</a:t>
            </a:r>
          </a:p>
          <a:p xmlns:a="http://schemas.openxmlformats.org/drawingml/2006/main">
            <a:r>
              <a:t>The key message is that this idea is novel enough to stand out but practical enough to pilot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22b5da696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f0d0791dbd41cd" /><Relationship Type="http://schemas.openxmlformats.org/officeDocument/2006/relationships/slideLayout" Target="/ppt/slideLayouts/slideLayout1.xml" Id="Rfa44fffa67ac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4fffa67ac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a65bd89474c5a" /><Relationship Type="http://schemas.openxmlformats.org/officeDocument/2006/relationships/notesSlide" Target="/ppt/notesSlides/notesSlide1.xml" Id="R1fc400b5d33b4c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65cf4a6724aa6" /><Relationship Type="http://schemas.openxmlformats.org/officeDocument/2006/relationships/notesSlide" Target="/ppt/notesSlides/notesSlide2.xml" Id="R12cf26567393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a1f8f25804602" /><Relationship Type="http://schemas.openxmlformats.org/officeDocument/2006/relationships/chart" Target="/ppt/slides/charts/chart1.xml" Id="Rcaf1246683a4411b" /><Relationship Type="http://schemas.openxmlformats.org/officeDocument/2006/relationships/notesSlide" Target="/ppt/notesSlides/notesSlide3.xml" Id="Rfcd2a77fcd6347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639b4d71f433e" /><Relationship Type="http://schemas.openxmlformats.org/officeDocument/2006/relationships/notesSlide" Target="/ppt/notesSlides/notesSlide4.xml" Id="R1445a3040af1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ef03896cc44f8" /><Relationship Type="http://schemas.openxmlformats.org/officeDocument/2006/relationships/notesSlide" Target="/ppt/notesSlides/notesSlide5.xml" Id="R675751f5081246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1a3cf9c454f54" /><Relationship Type="http://schemas.openxmlformats.org/officeDocument/2006/relationships/notesSlide" Target="/ppt/notesSlides/notesSlide6.xml" Id="R047438cf556346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bb2100f744ea8" /><Relationship Type="http://schemas.openxmlformats.org/officeDocument/2006/relationships/notesSlide" Target="/ppt/notesSlides/notesSlide7.xml" Id="R734bcde0fa4e4f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e1fc13e664c94" /><Relationship Type="http://schemas.openxmlformats.org/officeDocument/2006/relationships/image" Target="/ppt/media/image.jpeg" Id="R59e98dda420e4568" /><Relationship Type="http://schemas.openxmlformats.org/officeDocument/2006/relationships/notesSlide" Target="/ppt/notesSlides/notesSlide8.xml" Id="Rb0a2e8818aa14a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ccc57c05a46c1" /><Relationship Type="http://schemas.openxmlformats.org/officeDocument/2006/relationships/notesSlide" Target="/ppt/notesSlides/notesSlide9.xml" Id="R70654941a2c549a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Improper payments, $B</c:v>
          </c:tx>
          <c:spPr>
            <a:solidFill xmlns:a="http://schemas.openxmlformats.org/drawingml/2006/main">
              <a:srgbClr val="255B9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FFS</c:v>
              </c:pt>
              <c:pt idx="1">
                <c:v>Part C</c:v>
              </c:pt>
              <c:pt idx="2">
                <c:v>Part D</c:v>
              </c:pt>
              <c:pt idx="3">
                <c:v>Medicaid</c:v>
              </c:pt>
            </c:strLit>
          </c:cat>
          <c:val>
            <c:numLit>
              <c:formatCode>General</c:formatCode>
              <c:ptCount val="4"/>
              <c:pt idx="0">
                <c:v>28.83</c:v>
              </c:pt>
              <c:pt idx="1">
                <c:v>23.67</c:v>
              </c:pt>
              <c:pt idx="2">
                <c:v>4.23</c:v>
              </c:pt>
              <c:pt idx="3">
                <c:v>37.39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97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$B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97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10844C-1404-44F3-BE66-DAE840B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B1CE4-5BBF-45B8-BFDD-C87ADDC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COTIVITI INTERN ASSESSMENT | PROMPT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D89D7-62FB-4507-B523-6120CA34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0"/>
                </a:solidFill>
              </a:defRPr>
            </a:pPr>
            <a:r>
              <a:rPr sz="4200" b="1">
                <a:solidFill>
                  <a:srgbClr val="101820"/>
                </a:solidFill>
              </a:rPr>
              <a:t>Federated Claim-Graph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68B62-DFDD-404D-8056-24D2E2C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975"/>
                </a:solidFill>
              </a:defRPr>
            </a:pPr>
            <a:r>
              <a:rPr sz="1800" b="0">
                <a:solidFill>
                  <a:srgbClr val="5F6975"/>
                </a:solidFill>
              </a:rPr>
              <a:t>Payment integrity with privacy-preserving pattern recognition and auditor-ready evidence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65BE8-2D42-44D6-924B-2BBD4BE5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Author: Mohammad Saleh Nikoopayan Tak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1020-16E9-4B09-87B7-32782BC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Report + Hackathon POC + Slide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D18C3-B8B0-413F-AE00-D480088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23950"/>
            <a:ext cx="29718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69743-00FD-4B2B-B75C-0359239B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28441">
            <a:off x="9296400" y="19526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FF410-8892-4C0E-B35B-6F7F15D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17277">
            <a:off x="9277350" y="30289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BAFC4-2368-43F6-B2D3-F14ADF06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79722">
            <a:off x="9906000" y="24955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9217B-D6C7-466E-9DD9-B67C209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21543">
            <a:off x="9906000" y="30289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73771-2B63-4697-8B27-FAB0698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A5F5F-851E-4F3F-951C-BBC604A7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BC574-1547-4779-B679-737136D1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71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5D8EC-9B66-4A9F-A047-A5B521A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2D20B-890F-443C-8195-89CF2E1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242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97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5E7AA-871E-4ADA-84EF-A4FAD01E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B55D7-B087-4E35-ACF0-0F3698BC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52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271A3-6018-4B2B-AA1D-088C9E0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526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57507-73A6-4D47-B50B-F6E8923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33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BB40C-E9C4-4770-B294-5579FB4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338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4C544-CD04-4293-97BF-DD2C477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A5058-1B6D-476D-B2A4-4AA2FEB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8202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54147-0807-47EB-995D-72BF6855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TOPIC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6A350-9A5F-427C-BD30-925833D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A claim is a relationship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FBB1E-BD65-4CF5-A743-14191035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Prompt 2 narrowed to clinical decision making and pattern recognition for payment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31089-950D-4779-9C79-9E0C502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</a:defRPr>
            </a:pPr>
            <a:r>
              <a:rPr sz="1725" b="0">
                <a:solidFill>
                  <a:srgbClr val="101820"/>
                </a:solidFill>
              </a:rPr>
              <a:t>Instead of treating a claim as a flat row, the system links member, provider, CPT, diagnosis, time, modifier, peer group, and policy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E1182-3512-4E63-B2A2-838A7302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D0442-540E-4745-B12A-2325EBC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318D9-69A0-4909-A1B4-88A3D87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Classification: is this claim likely clean, questionable, or urgent?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1E97A-D154-4AD2-BACE-F1CAD82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0B0F1-13F5-4816-8731-EE4B965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Inference: which relationship explains the risk?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C664-686E-4522-ADBA-6AFCEDFE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7CF07-19FB-4019-A73E-3F4F638E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Clustering: which providers, codes, and members form unusual groups?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AB255-2E16-44B0-8522-AD893B1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24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670BC-371F-4419-9EEF-AE58053E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Time-series anomaly detection: what changed suddenly?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79E2-C497-49E5-8E3F-702E47A1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FA775-6670-4D6A-A8C4-7399687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733661">
            <a:off x="75247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D7BFE-B11D-4DE6-9334-2CE5276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61642">
            <a:off x="8858250" y="27813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62F61-577D-431F-9571-A2F76F47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26420">
            <a:off x="7543800" y="3695700"/>
            <a:ext cx="131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1318B-146D-4A30-A455-B1DDF6B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74896">
            <a:off x="8858250" y="3695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D14FC-80B1-46FA-B83D-F3EB663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58250" y="2238375"/>
            <a:ext cx="9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CFDC6-AE61-4E5D-BA78-4273910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A4920-BEDE-4486-80A9-38013034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528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4C572-DB12-44C0-A2EC-F7A6A6E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D7F19-5E6A-4737-894D-914FAA8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B3847-0A8A-46CE-9B48-EEEF173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1C8B2-D8C1-468D-BC6C-2E913349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384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0E5CD-BF0D-49AE-8CC5-70B571B3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97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FED3B-3D23-4EAE-9C81-BD30BAC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2BB8E-F337-4CA0-9798-AE0B97C1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196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EB4567-08D4-4209-9ACD-3D9BE0E9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386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A94B2-AA2A-445F-AE56-904F2ED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B5F80-EA5A-45B5-9F89-E272272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C0EB3-EA31-4DAE-898C-4A0D035D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86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Design principle: no score without a story.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334F12-A060-4708-8B94-466C07F0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E840A-1884-4FFA-B8D2-346E643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8298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0C335-CC31-4B78-B032-5D358D1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19B7-B150-4DEC-925C-3E13CBA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Pressure, connectivity,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84EA6-8ABC-4937-AE40-C477CF39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market is ready because payment risk is visible, payer data is more connected, and AI governance expectations are rising.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87DD-2D19-478C-A538-92DEEE4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3D84C-4915-4C6E-A81D-BDF27FC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</a:defRPr>
            </a:pPr>
            <a:r>
              <a:rPr sz="2850" b="1">
                <a:solidFill>
                  <a:srgbClr val="B42318"/>
                </a:solidFill>
              </a:rPr>
              <a:t>$94B+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4068-D29E-4ED1-BEFA-E47DBA7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FY 2025 CMS improper payment estimates across Medicare FFS, Part C, Part D, and Medicaid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C64E-F56F-42DC-BCFC-D73DA44C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145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9E736-2CC9-47B2-9413-5DEE7D16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6A00"/>
                </a:solidFill>
              </a:defRPr>
            </a:pPr>
            <a:r>
              <a:rPr sz="2850" b="1">
                <a:solidFill>
                  <a:srgbClr val="C56A00"/>
                </a:solidFill>
              </a:rPr>
              <a:t>455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1B16F-129C-4A52-A886-1142DBCA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Defendants charged in DOJ's June 23, 2026 health care fraud takedown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EDD04-C3FD-4831-A729-08DA338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145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D4670-136C-4D2C-861D-6EDC8993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241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$21.2B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F8623-2376-4D8D-B3E4-7B9DD42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146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Suspect FWA claims Cotiviti says it identified for clients in 2025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267700" y="2000250"/>
          <a:ext xmlns:a="http://schemas.openxmlformats.org/drawingml/2006/main" cx="3238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f1246683a4411b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E9370-84BC-4517-9F88-6A7B698A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Strategic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C4B60-3818-4B20-8755-63415EB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90C23-7306-4503-A325-5AD6E57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Earlier lead prioritization matters because bad payments are expensive to chase after the fact.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436B5-8EE2-4B53-9811-19B458F8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7F8F-F660-45EF-B57D-3B4697FC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Interoperability makes richer graph features possible across claims, policies, encounters, and contracts.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DD5EE-324F-43FF-AA76-2474702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F3D9D-539A-4424-BAB3-ACADED4A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Trust becomes a feature: privacy, explainability, human review, and drift monitoring have to be built 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AAD97-BBE3-4380-AA98-9B8B655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975"/>
                </a:solidFill>
              </a:defRPr>
            </a:pPr>
            <a:r>
              <a:rPr sz="825" b="0">
                <a:solidFill>
                  <a:srgbClr val="5F6975"/>
                </a:solidFill>
              </a:rPr>
              <a:t>Sources: CMS FY 2025 improper payments fact sheet; DOJ June 23, 2026 takedown; Cotiviti FWA Pattern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63838-7889-4D7A-8B89-6DB69557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7067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85EFC-87E0-4FC8-9E3C-5578963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COTIVITI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F07A8-B4C6-410C-997E-F003720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A natural extension of payment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8A08A-727B-454D-93CD-9250BB47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strongest angle is not novelty alone. It is a practical layer on top of Cotiviti's existing strengths.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1DF4C-39D3-42AC-A1BB-735F63E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480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E0B0F-5C93-4DF3-B583-FEE6FFF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ECAD3-58F6-4479-A2F9-226867F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Payment accuracy 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83139-5164-4DDF-AAA7-9095AE3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Cotiviti already operates across claim accuracy, payment policy, coding validation, clinical review, data mining, contracts, coordination of benefits, and FWA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F92B3-BC7A-4324-8934-7E027F62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34480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5A7F5-91DC-43DE-A103-AE6927D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B5854-1FD8-494F-AB64-5F93E9C3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Interoperability flywheel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24F56-A83E-489B-97CF-C05ACB4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The Edifecs acquisition can strengthen the data fabric needed for connected claim, policy, encounter, and contract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53CA4-A5A6-43F7-A758-A4259246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4480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BD645-71D9-4BD9-A124-4AB52BDC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4736E-7A02-4D50-A010-78638102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Managed-service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B5CA9-6ECD-4D47-AA54-1B487A91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Cotiviti can package the evidence chain with specialist review, case tracking, client governance, and provider-facing defensibility.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7F73F-9BEF-44E2-AE28-5FB8749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Positioning: broaden learning across payers without broadening raw data exposure.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AE89A-FC2B-4389-A177-32BE1C97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975"/>
                </a:solidFill>
              </a:defRPr>
            </a:pPr>
            <a:r>
              <a:rPr sz="825" b="0">
                <a:solidFill>
                  <a:srgbClr val="5F6975"/>
                </a:solidFill>
              </a:rPr>
              <a:t>Sources: Cotiviti payment accuracy pages; Cotiviti Edifecs acquisition announcement.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56129-C450-4437-B80C-39A9FD7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5504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89BF5-4DCF-4F45-B4D3-15FAF28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THREATS AND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FB249-C284-49C1-ACB5-9FD8753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Do not ship a black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A2A0C-B1AC-4D57-AB50-03B525D2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strategic risk is not that the model is imperfect. The risk is acting on a score without context, controls, or accountability.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26916-C511-4DBF-A50A-46A21904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94E8-7FAD-4B67-8A9C-D0753879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False positives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06C93-55C9-4530-A97D-ED029EF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Lead fatigue, delayed payment, and provider abrasion.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77984-E0B2-4BA8-892D-EBC238B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E669-2E8A-4AF5-AA59-477A594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050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Calibrate thresholds by domain and require human review before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CA9B0-977E-4CF2-9D41-2FB32185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51CF5-A5CD-4694-80C7-6358691F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Bias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68A76-8C27-4C29-8C1B-D894760D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Payer mix and access patterns can masquerade as misconduct.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E8451-6E0B-48B9-97E9-D756405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79BA1-4618-4D55-BDFF-3074404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Monitor cohorts, explain features, and use appeal outcomes as feedback.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3A4D3-22C4-4C97-A097-455AA2A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49108-DA57-4FBD-A3D1-704D480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Privacy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E37B1-D094-4F40-B431-22D3313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Model updates and aggregates can reveal sensitive patterns.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D8560-DF4A-4F7D-8007-EC7DC1F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2760E-C32E-4E7C-96A2-8F3D336C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338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Use secure aggregation, minimum cohort sizes, and client approval gates.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E7131-8930-4DE4-B947-06E21B2A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5F83E-3034-44A9-883C-80D7799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Adversarial adaptation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CBA9A-075C-46B6-A9AC-39F5D01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Fraud patterns shift once signals are learned.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C6A19-A3C3-4F88-BBF9-7DB4431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12498-64CB-47B5-AE44-9FED79D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482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Track drift, rotate features, and treat investigator notes as signal.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4682E-A308-4A7F-96F8-EF4715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975"/>
                </a:solidFill>
              </a:defRPr>
            </a:pPr>
            <a:r>
              <a:rPr sz="825" b="0">
                <a:solidFill>
                  <a:srgbClr val="5F6975"/>
                </a:solidFill>
              </a:rPr>
              <a:t>Governance frame aligned to NIST AI RMF: govern, map, measure, manage.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0D63C-23B2-4B19-ACD3-B41F9F0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6375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0B4D0-1354-4634-991C-1B754239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STRATEGIC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E7611-93B0-42E6-9D05-1129621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Three investable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F3D1-D976-4AF9-8130-F6AEE2DB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recommendation is to start narrow, prove lift, then turn the evidence chain into a reusable product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BEC19-1E92-4A11-8BBC-6A311A5C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480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B0F78-41A5-4B7B-ACC6-C5F7FD0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3040A-B4F6-40C6-AFA9-AC15775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91E11-AEE3-40B9-8BFE-1990A7A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Claim-Graph Utility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F360A-BE51-4536-A8B3-A8B586B3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Create reusable entities, edges, graph features, and explainers for prepay and postpay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72B19-3D54-40C4-B040-E2A250C1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480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EA848-EBE3-4B0F-AC73-0D483EEF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1CD7F-4431-4130-A0BB-1BAB830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11042-18C9-4B78-9538-6609B67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Cross-Payer Signal Exchange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7BB1D-B861-43BA-B8FB-43E9257B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Pilot privacy-preserving aggregate learning where raw claims remain inside each client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AC66E-00B7-476E-A6BF-25CCD7F1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480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D6D71-7637-4681-9CE1-149D7AF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D159-F7F3-4519-8BCF-417B853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701FE-9568-478E-BF0E-5F18144D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Evidence Chain 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718C2-A47E-43D3-8A30-9D2AB643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Show graph path, peer comparison, time-series change, code-policy rationale, confidence, and next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121F2-749D-4344-891E-B72B280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953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CE193-EEF7-4A96-9AE9-05C1ADDD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Recommended starting point: pair Option 3 with a narrow Option 2 pilot in one domain such as wound care, DME, high-volume labs, or behavioral health.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FDF4B-09E4-412C-B9AB-C0AC93B0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6634E-CFA6-42C8-8D1E-5A5E458E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87767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0F5B1-F1C3-4735-B2A8-8884D78C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HACKATHON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8670-1841-4E86-AD87-DB53BDD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Claim Integrity Radar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A800-0ACB-456B-A66F-134D524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prototype proves the first principles without overbuilding.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76F64-1E5F-4069-B11B-77E7812C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9F7AD-ECE2-49EB-A1C6-49F765B8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Synthetic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78A8D-B04D-4085-8B5C-576CED9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Generate payer, provider, member, CPT, diagnosis, modifier, week, units, and amount.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13173-4F01-4AE7-8AB7-36CBD03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DEE5"/>
                </a:solidFill>
              </a:defRPr>
            </a:pPr>
            <a:r>
              <a:rPr sz="3150" b="1">
                <a:solidFill>
                  <a:srgbClr val="D9DEE5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312E0-03F2-4DC3-93C5-6AD0FBC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FA055-7E41-448E-B954-84A0BF8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Local baselines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53576-46BE-4A13-9C2B-B5EABA1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Train peer norms by client, domain, specialty, procedure, and week.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7198E-EA49-4C51-A743-AE57410B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DEE5"/>
                </a:solidFill>
              </a:defRPr>
            </a:pPr>
            <a:r>
              <a:rPr sz="3150" b="1">
                <a:solidFill>
                  <a:srgbClr val="D9DEE5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4104F-023B-41FB-BE54-A6D529B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57EFB-C6BF-466E-B6B2-F8083F1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Federated 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1A9D-F1ED-4A8B-BE8C-9962B600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Share aggregate percentiles and drift signals only. Raw member records stay local.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EEDF0-70AE-4B36-ABAD-5FD81CC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DEE5"/>
                </a:solidFill>
              </a:defRPr>
            </a:pPr>
            <a:r>
              <a:rPr sz="3150" b="1">
                <a:solidFill>
                  <a:srgbClr val="D9DEE5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3DE92-1DAB-4040-B0D1-915C759D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E3C3D-87D4-4F18-AB27-FDF78282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Evidence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46539-DA19-4712-A264-40345D3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975"/>
                </a:solidFill>
              </a:defRPr>
            </a:pPr>
            <a:r>
              <a:rPr sz="1275" b="0">
                <a:solidFill>
                  <a:srgbClr val="5F6975"/>
                </a:solidFill>
              </a:rPr>
              <a:t>Score anomalies, render graph paths, and recommend an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53AA7-B5EF-4854-A7DD-BA0D386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9486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48778-D7F4-4C34-8A15-16D5D12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Proof point: the demo can be shown in under three minutes, and every score has a human-readable reason trace.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88FA7-D620-4923-91E3-56A5FE4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CFBFD-3C21-4445-8228-1221D4D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34742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FB0D1-F6D5-4561-A5FC-8BA8FE5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DEMO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FAEDD-A4F7-440B-82D7-F1C4059B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What the evaluator should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5443F-1502-4CA6-8DF4-4752B52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The demo is built to prove speed to value, not production completeness.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98dda420e4568"/>
          <a:srcRect xmlns:a="http://schemas.openxmlformats.org/drawingml/2006/main" l="139" t="0" r="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1752600"/>
            <a:ext cx="6838950" cy="3857625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6DB67-14B4-499C-A9B4-C9674E6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37528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D3220-2E45-4D35-B918-0AD0445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1600C-9524-4BAB-ADF4-F04B9A8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Click Train Local Baselines to show peer-group learning.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A6B52-A71F-4F50-A20C-645E50B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4191-346C-46B9-8F30-22CB0CF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Click Share Federated Summary to show zero raw records shared.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F50F9-0132-40E9-9181-7E3EAD6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AAA1E-C9CF-4130-876F-9C5B0EA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Select a high-risk claim and explain graph path plus reason chain.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065CC-437D-490B-861C-9B3649B0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8BEFC-4AD3-4794-B053-96B63CF8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Export an audit packet to show investigator handoff thinking.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920C3-E25F-414B-A15E-17FB461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975"/>
                </a:solidFill>
              </a:defRPr>
            </a:pPr>
            <a:r>
              <a:rPr sz="825" b="0">
                <a:solidFill>
                  <a:srgbClr val="5F6975"/>
                </a:solidFill>
              </a:rPr>
              <a:t>Asset: screenshot from the included Claim Integrity Radar POC.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DF734-7694-4347-A9A2-FDC37A63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1874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9BEF0-D083-465A-98C9-0B5B23C4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RECOMMENDED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A3C89-F2E8-43FA-AADD-F6CED13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A 90-day pilot for speed to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6092E-42C4-4933-81EB-1ECDDC20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975"/>
                </a:solidFill>
              </a:defRPr>
            </a:pPr>
            <a:r>
              <a:rPr sz="1500" b="0">
                <a:solidFill>
                  <a:srgbClr val="5F6975"/>
                </a:solidFill>
              </a:rPr>
              <a:t>Constrain the domain, measure lift, and decide whether to invest in a reusable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9076F-D7E3-4CCA-8522-0187DB7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5B9B"/>
                </a:solidFill>
              </a:defRPr>
            </a:pPr>
            <a:r>
              <a:rPr sz="1350" b="1">
                <a:solidFill>
                  <a:srgbClr val="255B9B"/>
                </a:solidFill>
              </a:rPr>
              <a:t>Weeks 1-2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C1089-F456-40CE-91EC-8511FAC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9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Pick one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B9B4-0B5C-4CA4-A066-57D73829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Wound care, DME, high-volume labs, or behavioral health.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9A2C4-F6A6-4D7C-87F1-550D559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D9D7A-F2FE-4ECE-88B5-70A927D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Weeks 3-6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B942E-EEB3-4817-B245-02FEF13C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Build graph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C358F-958E-4ADE-BCBF-FC2410B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Entity resolution, peer baselines, time windows, and policy hooks.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FA399-EDF4-4B83-B7E9-31703DC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4C5F3-9B91-4286-A3E0-5D800E1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6A00"/>
                </a:solidFill>
              </a:defRPr>
            </a:pPr>
            <a:r>
              <a:rPr sz="1350" b="1">
                <a:solidFill>
                  <a:srgbClr val="C56A00"/>
                </a:solidFill>
              </a:rPr>
              <a:t>Weeks 7-10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DC01D-E53B-4012-8F49-6AB468C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861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Compare to current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74353-2BCC-481B-9B6C-73CF912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Precision, recall proxy, auditor agreement, provider abrasion, and turnaround.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C5E4A-FC63-48B6-A637-D01F3E83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35B43-D541-4AD3-AABD-EE234A63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Weeks 11-12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246F6-50CF-4F20-A493-60E3EBE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24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Investment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B8674-4E13-4F61-A4AE-D9222E9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52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975"/>
                </a:solidFill>
              </a:defRPr>
            </a:pPr>
            <a:r>
              <a:rPr sz="1350" b="0">
                <a:solidFill>
                  <a:srgbClr val="5F6975"/>
                </a:solidFill>
              </a:rPr>
              <a:t>Scale, pivot, or stop based on lift and governance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6180A-634C-4008-BAF5-26ACBA7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92F2B-8F17-486B-A0BD-342F615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Close with the thesis: no score without a story.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C702E-E695-454F-94EA-383E3FD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2994C-4499-498A-9D80-4F1FC8C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975"/>
                </a:solidFill>
              </a:defRPr>
            </a:pPr>
            <a:r>
              <a:rPr sz="1125" b="0">
                <a:solidFill>
                  <a:srgbClr val="5F697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6947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2026-06-29T00:04:03.7020000Z</dcterms:created>
  <dcterms:modified xsi:type="dcterms:W3CDTF">2026-06-29T00:04:03.7020000Z</dcterms:modified>
</coreProperties>
</file>