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8ad6149237a495c" /><Relationship Type="http://schemas.openxmlformats.org/officeDocument/2006/relationships/extended-properties" Target="/docProps/app.xml" Id="R15b219ec4f76437a" /><Relationship Type="http://schemas.openxmlformats.org/officeDocument/2006/relationships/officeDocument" Target="/ppt/presentation.xml" Id="R90210fe50922446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b81e45e7d594625"/>
  </p:sldMasterIdLst>
  <p:notesMasterIdLst>
    <p:notesMasterId xmlns:r="http://schemas.openxmlformats.org/officeDocument/2006/relationships" r:id="R20916020c4704d1f"/>
  </p:notesMasterIdLst>
  <p:sldIdLst>
    <p:sldId xmlns:r="http://schemas.openxmlformats.org/officeDocument/2006/relationships" id="256" r:id="R3186f22e8d2a4220"/>
    <p:sldId xmlns:r="http://schemas.openxmlformats.org/officeDocument/2006/relationships" id="257" r:id="R122deaf0a41341fb"/>
    <p:sldId xmlns:r="http://schemas.openxmlformats.org/officeDocument/2006/relationships" id="258" r:id="Rd24182beda034a75"/>
    <p:sldId xmlns:r="http://schemas.openxmlformats.org/officeDocument/2006/relationships" id="259" r:id="R8c0ec6abf72d4511"/>
    <p:sldId xmlns:r="http://schemas.openxmlformats.org/officeDocument/2006/relationships" id="260" r:id="R98fd993498054a17"/>
    <p:sldId xmlns:r="http://schemas.openxmlformats.org/officeDocument/2006/relationships" id="261" r:id="Rf7f032fa33c641a6"/>
    <p:sldId xmlns:r="http://schemas.openxmlformats.org/officeDocument/2006/relationships" id="262" r:id="R09d054bbe1164c7a"/>
    <p:sldId xmlns:r="http://schemas.openxmlformats.org/officeDocument/2006/relationships" id="263" r:id="Reaf7b99f60d24c03"/>
    <p:sldId xmlns:r="http://schemas.openxmlformats.org/officeDocument/2006/relationships" id="264" r:id="R3763e2b5a95744a8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b5639b479ae4274" /><Relationship Type="http://schemas.openxmlformats.org/officeDocument/2006/relationships/slideMaster" Target="/ppt/slideMasters/slideMaster1.xml" Id="Rfb81e45e7d594625" /><Relationship Type="http://schemas.openxmlformats.org/officeDocument/2006/relationships/notesMaster" Target="/ppt/notesMasters/notesMaster1.xml" Id="R20916020c4704d1f" /><Relationship Type="http://schemas.openxmlformats.org/officeDocument/2006/relationships/presProps" Target="/ppt/presProps.xml" Id="R7a0f70bb6a274297" /><Relationship Type="http://schemas.openxmlformats.org/officeDocument/2006/relationships/tableStyles" Target="/ppt/tableStyles.xml" Id="R6acc7d4622e6449a" /><Relationship Type="http://schemas.openxmlformats.org/officeDocument/2006/relationships/slide" Target="/ppt/slides/slide1.xml" Id="R3186f22e8d2a4220" /><Relationship Type="http://schemas.openxmlformats.org/officeDocument/2006/relationships/slide" Target="/ppt/slides/slide2.xml" Id="R122deaf0a41341fb" /><Relationship Type="http://schemas.openxmlformats.org/officeDocument/2006/relationships/slide" Target="/ppt/slides/slide3.xml" Id="Rd24182beda034a75" /><Relationship Type="http://schemas.openxmlformats.org/officeDocument/2006/relationships/slide" Target="/ppt/slides/slide4.xml" Id="R8c0ec6abf72d4511" /><Relationship Type="http://schemas.openxmlformats.org/officeDocument/2006/relationships/slide" Target="/ppt/slides/slide5.xml" Id="R98fd993498054a17" /><Relationship Type="http://schemas.openxmlformats.org/officeDocument/2006/relationships/slide" Target="/ppt/slides/slide6.xml" Id="Rf7f032fa33c641a6" /><Relationship Type="http://schemas.openxmlformats.org/officeDocument/2006/relationships/slide" Target="/ppt/slides/slide7.xml" Id="R09d054bbe1164c7a" /><Relationship Type="http://schemas.openxmlformats.org/officeDocument/2006/relationships/slide" Target="/ppt/slides/slide8.xml" Id="Reaf7b99f60d24c03" /><Relationship Type="http://schemas.openxmlformats.org/officeDocument/2006/relationships/slide" Target="/ppt/slides/slide9.xml" Id="R3763e2b5a95744a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48c6359b88e4b2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otiviti">
  <a:themeElements>
    <a:clrScheme name="Cotiviti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otiviti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7dd66353d7a4402" /><Relationship Type="http://schemas.openxmlformats.org/officeDocument/2006/relationships/notesMaster" Target="/ppt/notesMasters/notesMaster1.xml" Id="Rc47ad106bb3842e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01a8beca12f45db" /><Relationship Type="http://schemas.openxmlformats.org/officeDocument/2006/relationships/notesMaster" Target="/ppt/notesMasters/notesMaster1.xml" Id="R85597c2d72cb4b3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10bdcff554f40a4" /><Relationship Type="http://schemas.openxmlformats.org/officeDocument/2006/relationships/notesMaster" Target="/ppt/notesMasters/notesMaster1.xml" Id="Rc1532b6118f240a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24f13d6ef694ab6" /><Relationship Type="http://schemas.openxmlformats.org/officeDocument/2006/relationships/notesMaster" Target="/ppt/notesMasters/notesMaster1.xml" Id="Rc83cb6b58b5f449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507f14860d24c7f" /><Relationship Type="http://schemas.openxmlformats.org/officeDocument/2006/relationships/notesMaster" Target="/ppt/notesMasters/notesMaster1.xml" Id="R82778476d5f048b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21d5274a4884da3" /><Relationship Type="http://schemas.openxmlformats.org/officeDocument/2006/relationships/notesMaster" Target="/ppt/notesMasters/notesMaster1.xml" Id="R048c9bd5b7a04f3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6106a134d54483e" /><Relationship Type="http://schemas.openxmlformats.org/officeDocument/2006/relationships/notesMaster" Target="/ppt/notesMasters/notesMaster1.xml" Id="R942a674cacf4405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34d1baff1f34ef1" /><Relationship Type="http://schemas.openxmlformats.org/officeDocument/2006/relationships/notesMaster" Target="/ppt/notesMasters/notesMaster1.xml" Id="R06765f153bd64d8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b8da867bc3d4dce" /><Relationship Type="http://schemas.openxmlformats.org/officeDocument/2006/relationships/notesMaster" Target="/ppt/notesMasters/notesMaster1.xml" Id="R6ed430fa90e242e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thesis: the project is not generic healthcare automation. It is a Cotiviti-relevant payment integrity idea.</a:t>
            </a:r>
          </a:p>
          <a:p xmlns:a="http://schemas.openxmlformats.org/drawingml/2006/main">
            <a:r>
              <a:t>Say that the report and POC focus on graph pattern recognition, privacy-preserving collaboration, and evidence cards for human reviewers.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Define the topic in plain language.</a:t>
            </a:r>
          </a:p>
          <a:p xmlns:a="http://schemas.openxmlformats.org/drawingml/2006/main">
            <a:r>
              <a:t>Emphasize that graph intelligence adds context and reasoning to ordinary claims analytics.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slide to justify urgency.</a:t>
            </a:r>
          </a:p>
          <a:p xmlns:a="http://schemas.openxmlformats.org/drawingml/2006/main">
            <a:r>
              <a:t>Explain that the figures show pressure and opportunity, not that every improper payment is fraud.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business fit slide.</a:t>
            </a:r>
          </a:p>
          <a:p xmlns:a="http://schemas.openxmlformats.org/drawingml/2006/main">
            <a:r>
              <a:t>Connect the idea to Cotiviti's actual product footprint and not just technical excitement.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shows judgment.</a:t>
            </a:r>
          </a:p>
          <a:p xmlns:a="http://schemas.openxmlformats.org/drawingml/2006/main">
            <a:r>
              <a:t>Say that the investment must include governance, not just model development.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Frame the options as a roadmap.</a:t>
            </a:r>
          </a:p>
          <a:p xmlns:a="http://schemas.openxmlformats.org/drawingml/2006/main">
            <a:r>
              <a:t>The strongest recommendation is evidence-chain productization, supported by a narrow federated pilot.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the evaluator through the POC flow before showing the actual app.</a:t>
            </a:r>
          </a:p>
          <a:p xmlns:a="http://schemas.openxmlformats.org/drawingml/2006/main">
            <a:r>
              <a:t>Say the POC is intentionally synthetic and transparent so the core engineering is visible.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handoff slide before screensharing the browser POC.</a:t>
            </a:r>
          </a:p>
          <a:p xmlns:a="http://schemas.openxmlformats.org/drawingml/2006/main">
            <a:r>
              <a:t>Keep the demo short: train, federate, click a claim, export the evidence card.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End decisively.</a:t>
            </a:r>
          </a:p>
          <a:p xmlns:a="http://schemas.openxmlformats.org/drawingml/2006/main">
            <a:r>
              <a:t>The key message is that this idea is novel enough to stand out but practical enough to pilot quickly.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e727afc939e4bf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c564c4d69fa4899" /><Relationship Type="http://schemas.openxmlformats.org/officeDocument/2006/relationships/slideLayout" Target="/ppt/slideLayouts/slideLayout1.xml" Id="R1b9f90a6dc98404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b9f90a6dc98404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otiviti">
  <a:themeElements>
    <a:clrScheme name="Cotiviti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otiviti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2d1f0c16af4927" /><Relationship Type="http://schemas.openxmlformats.org/officeDocument/2006/relationships/notesSlide" Target="/ppt/notesSlides/notesSlide1.xml" Id="R356f0e331b70418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4f33bc52b3465d" /><Relationship Type="http://schemas.openxmlformats.org/officeDocument/2006/relationships/notesSlide" Target="/ppt/notesSlides/notesSlide2.xml" Id="R9ca85c0fd37a46f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1e1184bd7849db" /><Relationship Type="http://schemas.openxmlformats.org/officeDocument/2006/relationships/chart" Target="/ppt/slides/charts/chart1.xml" Id="R1a99c72339c541d1" /><Relationship Type="http://schemas.openxmlformats.org/officeDocument/2006/relationships/notesSlide" Target="/ppt/notesSlides/notesSlide3.xml" Id="R2430abdb62b943f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77f20f41734381" /><Relationship Type="http://schemas.openxmlformats.org/officeDocument/2006/relationships/notesSlide" Target="/ppt/notesSlides/notesSlide4.xml" Id="R5fb1c63a8303470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7e10f1e73c480b" /><Relationship Type="http://schemas.openxmlformats.org/officeDocument/2006/relationships/notesSlide" Target="/ppt/notesSlides/notesSlide5.xml" Id="R4069449e04ac4c4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4c3121a8804f65" /><Relationship Type="http://schemas.openxmlformats.org/officeDocument/2006/relationships/notesSlide" Target="/ppt/notesSlides/notesSlide6.xml" Id="R2144d6443bc341f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899996b9454c0a" /><Relationship Type="http://schemas.openxmlformats.org/officeDocument/2006/relationships/notesSlide" Target="/ppt/notesSlides/notesSlide7.xml" Id="Re470744d70ce4e4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f0fa3314da4165" /><Relationship Type="http://schemas.openxmlformats.org/officeDocument/2006/relationships/image" Target="/ppt/media/image.png" Id="Rb60918fe6add43ec" /><Relationship Type="http://schemas.openxmlformats.org/officeDocument/2006/relationships/notesSlide" Target="/ppt/notesSlides/notesSlide8.xml" Id="Rb4701ed85b734a3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d6e76a8c664fa0" /><Relationship Type="http://schemas.openxmlformats.org/officeDocument/2006/relationships/notesSlide" Target="/ppt/notesSlides/notesSlide9.xml" Id="R3bcf7933025c464a" /></Relationships>
</file>

<file path=ppt/slides/charts/chart1.xml><?xml version="1.0" encoding="utf-8"?>
<c:chartSpace xmlns:c="http://schemas.openxmlformats.org/drawingml/2006/chart">
  <c:lang val="en-US"/>
  <c:roundedCorners val="0"/>
  <c:chart>
    <c:plotArea>
      <c:layout/>
      <c:barChart>
        <c:barDir val="col"/>
        <c:varyColors val="0"/>
        <c:ser>
          <c:idx val="0"/>
          <c:order val="0"/>
          <c:tx>
            <c:v>Improper payments, $B</c:v>
          </c:tx>
          <c:spPr>
            <a:solidFill xmlns:a="http://schemas.openxmlformats.org/drawingml/2006/main">
              <a:srgbClr val="255B9B"/>
            </a:solidFill>
          </c:spPr>
          <c:dLbls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4"/>
              <c:pt idx="0">
                <c:v>FFS</c:v>
              </c:pt>
              <c:pt idx="1">
                <c:v>Part C</c:v>
              </c:pt>
              <c:pt idx="2">
                <c:v>Part D</c:v>
              </c:pt>
              <c:pt idx="3">
                <c:v>Medicaid</c:v>
              </c:pt>
            </c:strLit>
          </c:cat>
          <c:val>
            <c:numLit>
              <c:formatCode>General</c:formatCode>
              <c:ptCount val="4"/>
              <c:pt idx="0">
                <c:v>28.83</c:v>
              </c:pt>
              <c:pt idx="1">
                <c:v>23.67</c:v>
              </c:pt>
              <c:pt idx="2">
                <c:v>4.23</c:v>
              </c:pt>
              <c:pt idx="3">
                <c:v>37.39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>
                  <a:solidFill>
                    <a:srgbClr val="1018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5F6975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  <c:max val="40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/>
                  <a:t>$B</a:t>
                </a:r>
              </a:p>
            </c:rich>
          </c:tx>
          <c:overlay val="0"/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5F6975"/>
                </a:solidFill>
              </a:defRPr>
            </a:pPr>
          </a:p>
        </c:txPr>
        <c:crossAx val="48650112"/>
        <c:crosses val="autoZero"/>
        <c:crossBetween val="between"/>
      </c:valAx>
    </c:plotArea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62BADE9-B071-4A25-A2DC-08EF2CE3A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6929F1-D22E-48FF-9BF5-634DEEE08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F766E"/>
                </a:solidFill>
              </a:defRPr>
            </a:pPr>
            <a:r>
              <a:rPr sz="975" b="1">
                <a:solidFill>
                  <a:srgbClr val="0F766E"/>
                </a:solidFill>
              </a:rPr>
              <a:t>COTIVITI INTERN ASSESSMENT | PROMPT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52087B-3C0E-4B8D-94CB-AE2170A8B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8572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101820"/>
                </a:solidFill>
              </a:defRPr>
            </a:pPr>
            <a:r>
              <a:rPr sz="4200" b="1">
                <a:solidFill>
                  <a:srgbClr val="101820"/>
                </a:solidFill>
              </a:rPr>
              <a:t>Federated Claim-Graph Intelligence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66FA32-9559-4619-BAE7-341C978F8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0"/>
            <a:ext cx="7905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F6975"/>
                </a:solidFill>
              </a:defRPr>
            </a:pPr>
            <a:r>
              <a:rPr sz="1800" b="0">
                <a:solidFill>
                  <a:srgbClr val="5F6975"/>
                </a:solidFill>
              </a:rPr>
              <a:t>A reviewer cockpit for privacy-preserving pattern recognition and auditor-ready evidence cards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FE9E90-BA16-43D0-B007-631BD13A0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0"/>
            <a:ext cx="581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1820"/>
                </a:solidFill>
              </a:defRPr>
            </a:pPr>
            <a:r>
              <a:rPr sz="1500" b="1">
                <a:solidFill>
                  <a:srgbClr val="101820"/>
                </a:solidFill>
              </a:rPr>
              <a:t>Author: Mohammad Saleh Nikoopayan Tak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B4EB17-0A26-4025-BE60-282F33A91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314950"/>
            <a:ext cx="590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975"/>
                </a:solidFill>
              </a:defRPr>
            </a:pPr>
            <a:r>
              <a:rPr sz="1350" b="0">
                <a:solidFill>
                  <a:srgbClr val="5F6975"/>
                </a:solidFill>
              </a:rPr>
              <a:t>Report + Hackathon POC + Slide Overview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046A59-0DB0-4956-8ED6-501E0191C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123950"/>
            <a:ext cx="2971800" cy="371475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24CAE7-8ACC-44C2-B40D-CE3690E32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3628441">
            <a:off x="9296400" y="1952625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39E871-2724-4CA2-AC24-BA29BCE1E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7217277">
            <a:off x="9277350" y="3028950"/>
            <a:ext cx="6286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62CDC8-5518-41AA-988A-06A3E99B0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1879722">
            <a:off x="9906000" y="2495550"/>
            <a:ext cx="876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84169A-57BC-4D3B-8573-0423B330C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3321543">
            <a:off x="9906000" y="3028950"/>
            <a:ext cx="723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F0DC59-51E2-4520-9594-D4F1E2972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552700"/>
            <a:ext cx="952500" cy="952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017034-D87F-4475-8749-4BCBB1BA6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886075"/>
            <a:ext cx="95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Claim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25CA6B-0231-470B-88AD-5A6C65A24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571625"/>
            <a:ext cx="762000" cy="76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5B9B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7F5CE2-B052-4A30-898F-FB4054A15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809750"/>
            <a:ext cx="76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Provider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241162-1025-44AD-9BD3-156AE0195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724275"/>
            <a:ext cx="762000" cy="76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6975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380A6E-8A00-45D6-B551-F32F238CA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962400"/>
            <a:ext cx="76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Member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583DC2-10D2-4AA8-9676-D9CD04EBD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21526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646DF9-BCDA-4F4B-B674-DDF184184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2352675"/>
            <a:ext cx="68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Code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711BA2E-B574-4C4B-AA98-A3A1B1814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73380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56A00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23F1DD5-FF85-4872-84D2-5FD557094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933825"/>
            <a:ext cx="68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Policy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B7BC46-D3B5-4EEC-A5A4-024930A98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933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D1E1CFB-34E6-4D2E-B668-5D47B9A53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865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F6975"/>
                </a:solidFill>
              </a:defRPr>
            </a:pPr>
            <a:r>
              <a:rPr sz="1125" b="0">
                <a:solidFill>
                  <a:srgbClr val="5F6975"/>
                </a:solidFill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84612666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B50B3F7-C703-4A5A-BC90-B431D93DE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F766E"/>
                </a:solidFill>
              </a:defRPr>
            </a:pPr>
            <a:r>
              <a:rPr sz="975" b="1">
                <a:solidFill>
                  <a:srgbClr val="0F766E"/>
                </a:solidFill>
              </a:rPr>
              <a:t>TOPIC CONCEPT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4D3D7E-638F-49B8-B205-98FF960D0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933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01820"/>
                </a:solidFill>
              </a:defRPr>
            </a:pPr>
            <a:r>
              <a:rPr sz="2925" b="1">
                <a:solidFill>
                  <a:srgbClr val="101820"/>
                </a:solidFill>
              </a:rPr>
              <a:t>A claim is a relationship graph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6306E8-2307-4448-B6DD-BFDE6D6E3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5730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975"/>
                </a:solidFill>
              </a:defRPr>
            </a:pPr>
            <a:r>
              <a:rPr sz="1500" b="0">
                <a:solidFill>
                  <a:srgbClr val="5F6975"/>
                </a:solidFill>
              </a:rPr>
              <a:t>Prompt 2 narrowed to clinical decision making and pattern recognition for payment operations.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4E1650-2B09-4845-BEDC-70EFBA2DC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00250"/>
            <a:ext cx="4953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0"/>
                </a:solidFill>
              </a:defRPr>
            </a:pPr>
            <a:r>
              <a:rPr sz="1725" b="0">
                <a:solidFill>
                  <a:srgbClr val="101820"/>
                </a:solidFill>
              </a:rPr>
              <a:t>Instead of treating a claim as a flat row, the system links member, provider, CPT, diagnosis, time, modifier, peer group, and policy context.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26013B-42DA-4CBA-A14E-595C70F9B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5718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F766E"/>
                </a:solidFill>
              </a:defRPr>
            </a:pPr>
            <a:r>
              <a:rPr sz="1275" b="1">
                <a:solidFill>
                  <a:srgbClr val="0F766E"/>
                </a:solidFill>
              </a:rPr>
              <a:t>Output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8BA136-D9F8-4F38-B540-78C1778E5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038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3E03F4-451D-489E-8702-6C354321D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962400"/>
            <a:ext cx="4914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1820"/>
                </a:solidFill>
              </a:defRPr>
            </a:pPr>
            <a:r>
              <a:rPr sz="1425" b="0">
                <a:solidFill>
                  <a:srgbClr val="101820"/>
                </a:solidFill>
              </a:rPr>
              <a:t>Classification: is this claim likely clean, questionable, or urgent?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139A78-F794-4B34-8389-85D8B0A93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4672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5B9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8F16DC-FA05-429B-9AC1-048D59C93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91025"/>
            <a:ext cx="4914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1820"/>
                </a:solidFill>
              </a:defRPr>
            </a:pPr>
            <a:r>
              <a:rPr sz="1425" b="0">
                <a:solidFill>
                  <a:srgbClr val="101820"/>
                </a:solidFill>
              </a:rPr>
              <a:t>Inference: which relationship explains the risk?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6FD4F0-2582-48CC-9BA9-5C8D51696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8958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6A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43967D-94AD-45E1-BA02-7DC08CA11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19650"/>
            <a:ext cx="4914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1820"/>
                </a:solidFill>
              </a:defRPr>
            </a:pPr>
            <a:r>
              <a:rPr sz="1425" b="0">
                <a:solidFill>
                  <a:srgbClr val="101820"/>
                </a:solidFill>
              </a:rPr>
              <a:t>Clustering: which providers, codes, and members form unusual groups?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D6C274-38B6-453E-9DF7-C6CDD969D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3244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E1AB2C-4484-416B-8799-64BB85831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48275"/>
            <a:ext cx="4914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1820"/>
                </a:solidFill>
              </a:defRPr>
            </a:pPr>
            <a:r>
              <a:rPr sz="1425" b="0">
                <a:solidFill>
                  <a:srgbClr val="101820"/>
                </a:solidFill>
              </a:rPr>
              <a:t>Time-series anomaly detection: what changed suddenly?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4FC32F-E5B6-4736-A016-F2B7771F1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885950"/>
            <a:ext cx="4762500" cy="3714750"/>
          </a:xfrm>
          <a:prstGeom xmlns:a="http://schemas.openxmlformats.org/drawingml/2006/main" prst="roundRect">
            <a:avLst>
              <a:gd name="adj" fmla="val 2051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C04476-2CE9-43C1-87D4-07EF97A2A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8733661">
            <a:off x="7524750" y="2781300"/>
            <a:ext cx="1333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2082AD-B536-4052-B07B-9031960C7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2161642">
            <a:off x="8858250" y="2781300"/>
            <a:ext cx="1257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82B1C5-82F6-4C52-829B-B42E53C58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426420">
            <a:off x="7543800" y="3695700"/>
            <a:ext cx="13144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B71B18-371B-4A12-942F-E32339F83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2474896">
            <a:off x="8858250" y="3695700"/>
            <a:ext cx="1238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67B606-A04E-4EAC-9154-F72A614C4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8858250" y="2238375"/>
            <a:ext cx="952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FEB1912-F42E-4178-BF89-55EF1FB50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18135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B8BC8A5-B86F-4CD1-999B-7B4B686EB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552825"/>
            <a:ext cx="1028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Claim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54EB342-B4E3-42E8-A754-83A852388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381250"/>
            <a:ext cx="8001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5B9B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6B7E9B8-25A3-42E4-AB8E-661CE64CB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638425"/>
            <a:ext cx="800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Provider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C5D2FE5-3573-427C-B437-41D0665C2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419350"/>
            <a:ext cx="72390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66A2C2B-B16A-492A-BC3D-A5831176F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638425"/>
            <a:ext cx="72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CPT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FADEF8D-AD59-4E84-B710-8D391624C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381500"/>
            <a:ext cx="8001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6975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6D9AC88-7C3A-4885-B26C-7F01039E8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638675"/>
            <a:ext cx="800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Member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47143C0-535C-4147-B4B3-45EC2D1E5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419600"/>
            <a:ext cx="72390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56A00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21AC9D1-381A-4280-92EB-43007F9A6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638675"/>
            <a:ext cx="72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Policy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566DB74-EA58-43DD-AD8D-96810ED4C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1914525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CC92BA0-262C-475D-AD46-D9B680C93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9550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Time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B427C7C-4DB3-41ED-B671-224DC6E33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7721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0"/>
                </a:solidFill>
              </a:defRPr>
            </a:pPr>
            <a:r>
              <a:rPr sz="1800" b="1">
                <a:solidFill>
                  <a:srgbClr val="101820"/>
                </a:solidFill>
              </a:rPr>
              <a:t>Design principle: no score without a story.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75C3576-C25D-44E1-A4A1-7EE6B97F4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60769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F6975"/>
                </a:solidFill>
              </a:defRPr>
            </a:pPr>
            <a:r>
              <a:rPr sz="1350" b="1">
                <a:solidFill>
                  <a:srgbClr val="5F6975"/>
                </a:solidFill>
              </a:rPr>
              <a:t>No automated payment action without human review.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39B63A1-FD52-43FF-8E33-809EAD442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933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37F9449-BCB1-463E-B534-8EDA52A4D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865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F6975"/>
                </a:solidFill>
              </a:defRPr>
            </a:pPr>
            <a:r>
              <a:rPr sz="1125" b="0">
                <a:solidFill>
                  <a:srgbClr val="5F6975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03884342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53E6069-47B3-4EB0-8F59-E4C89E504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F766E"/>
                </a:solidFill>
              </a:defRPr>
            </a:pPr>
            <a:r>
              <a:rPr sz="975" b="1">
                <a:solidFill>
                  <a:srgbClr val="0F766E"/>
                </a:solidFill>
              </a:rPr>
              <a:t>WHY NOW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55A852-D6BA-4164-AA8A-B843377D2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933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01820"/>
                </a:solidFill>
              </a:defRPr>
            </a:pPr>
            <a:r>
              <a:rPr sz="2925" b="1">
                <a:solidFill>
                  <a:srgbClr val="101820"/>
                </a:solidFill>
              </a:rPr>
              <a:t>Pressure, connectivity, trust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BCEE1D-5844-4F7B-9CB0-C725187E4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5730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975"/>
                </a:solidFill>
              </a:defRPr>
            </a:pPr>
            <a:r>
              <a:rPr sz="1500" b="0">
                <a:solidFill>
                  <a:srgbClr val="5F6975"/>
                </a:solidFill>
              </a:rPr>
              <a:t>The market is ready because payment risk is visible, payer data is more connected, and AI governance expectations are rising.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31AE3C-4C4F-469D-AF17-8F3DD3FEB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14550"/>
            <a:ext cx="238125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EFC429-DD3B-4B07-ACAB-8E23A2E76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324100"/>
            <a:ext cx="2000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B42318"/>
                </a:solidFill>
              </a:defRPr>
            </a:pPr>
            <a:r>
              <a:rPr sz="2850" b="1">
                <a:solidFill>
                  <a:srgbClr val="B42318"/>
                </a:solidFill>
              </a:rPr>
              <a:t>$94B+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4DD78D-5886-4EE4-8AE9-297F0A832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914650"/>
            <a:ext cx="2000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975"/>
                </a:solidFill>
              </a:defRPr>
            </a:pPr>
            <a:r>
              <a:rPr sz="1275" b="0">
                <a:solidFill>
                  <a:srgbClr val="5F6975"/>
                </a:solidFill>
              </a:rPr>
              <a:t>FY 2025 CMS improper payment estimates across Medicare FFS, Part C, Part D, and Medicaid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A26102-2408-4CDD-A42B-22E179777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114550"/>
            <a:ext cx="238125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1BBA47-BCB8-4FF1-B8B8-24172981C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324100"/>
            <a:ext cx="2000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C56A00"/>
                </a:solidFill>
              </a:defRPr>
            </a:pPr>
            <a:r>
              <a:rPr sz="2850" b="1">
                <a:solidFill>
                  <a:srgbClr val="C56A00"/>
                </a:solidFill>
              </a:rPr>
              <a:t>455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71A91F-770C-44A0-BD62-95C1E2504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914650"/>
            <a:ext cx="2000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975"/>
                </a:solidFill>
              </a:defRPr>
            </a:pPr>
            <a:r>
              <a:rPr sz="1275" b="0">
                <a:solidFill>
                  <a:srgbClr val="5F6975"/>
                </a:solidFill>
              </a:rPr>
              <a:t>Defendants charged in DOJ's June 23, 2026 health care fraud takedown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A0ED71-7EAE-48C3-AC65-AEA090C7A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114550"/>
            <a:ext cx="238125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83CA41-DB1F-4D3F-875D-4E8391AEF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324100"/>
            <a:ext cx="2000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766E"/>
                </a:solidFill>
              </a:defRPr>
            </a:pPr>
            <a:r>
              <a:rPr sz="2850" b="1">
                <a:solidFill>
                  <a:srgbClr val="0F766E"/>
                </a:solidFill>
              </a:rPr>
              <a:t>$21.2B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F63775-13D5-45EC-B1E6-45E12C1B9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914650"/>
            <a:ext cx="2000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975"/>
                </a:solidFill>
              </a:defRPr>
            </a:pPr>
            <a:r>
              <a:rPr sz="1275" b="0">
                <a:solidFill>
                  <a:srgbClr val="5F6975"/>
                </a:solidFill>
              </a:rPr>
              <a:t>Suspect FWA claims Cotiviti says it identified for clients in 2025</a:t>
            </a:r>
          </a:p>
        </p:txBody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8267700" y="2000250"/>
          <a:ext xmlns:a="http://schemas.openxmlformats.org/drawingml/2006/main" cx="3238500" cy="2571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a99c72339c541d1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626DF9-11F4-4892-9CBD-2296DD99B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1719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</a:defRPr>
            </a:pPr>
            <a:r>
              <a:rPr sz="1350" b="1">
                <a:solidFill>
                  <a:srgbClr val="0F766E"/>
                </a:solidFill>
              </a:rPr>
              <a:t>Strategic read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08C641-EDA0-45E4-A975-0AD2D1917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6672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F50461-2B8C-4D1C-8056-AC61C15D0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91050"/>
            <a:ext cx="10058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1820"/>
                </a:solidFill>
              </a:defRPr>
            </a:pPr>
            <a:r>
              <a:rPr sz="1425" b="0">
                <a:solidFill>
                  <a:srgbClr val="101820"/>
                </a:solidFill>
              </a:rPr>
              <a:t>Earlier lead prioritization matters because bad payments are expensive to chase after the fact.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B7CB92-2256-4A68-833D-6783B7EB4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0673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5B9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9234F3-2AB9-42F8-9AEA-86CB554FF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91100"/>
            <a:ext cx="10058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1820"/>
                </a:solidFill>
              </a:defRPr>
            </a:pPr>
            <a:r>
              <a:rPr sz="1425" b="0">
                <a:solidFill>
                  <a:srgbClr val="101820"/>
                </a:solidFill>
              </a:rPr>
              <a:t>Interoperability makes richer graph features possible across claims, policies, encounters, and contracts.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DD1B42-B40A-4E88-BDD7-27B32C2B1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4673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F73D5C-6FE6-410E-ABB2-0971E082C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91150"/>
            <a:ext cx="10058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1820"/>
                </a:solidFill>
              </a:defRPr>
            </a:pPr>
            <a:r>
              <a:rPr sz="1425" b="0">
                <a:solidFill>
                  <a:srgbClr val="101820"/>
                </a:solidFill>
              </a:rPr>
              <a:t>Trust becomes a feature: privacy, explainability, human review, and drift monitoring have to be built in.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0154D08-1EEA-4331-9591-23FAAE5CA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933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975"/>
                </a:solidFill>
              </a:defRPr>
            </a:pPr>
            <a:r>
              <a:rPr sz="825" b="0">
                <a:solidFill>
                  <a:srgbClr val="5F6975"/>
                </a:solidFill>
              </a:rPr>
              <a:t>Sources: CMS FY 2025 improper payments fact sheet; DOJ June 23, 2026 takedown; Cotiviti FWA Pattern Review.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41A2BB6-E455-4093-9BD6-156042ACD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865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F6975"/>
                </a:solidFill>
              </a:defRPr>
            </a:pPr>
            <a:r>
              <a:rPr sz="1125" b="0">
                <a:solidFill>
                  <a:srgbClr val="5F6975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7976257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0AD7873-0940-47C0-862A-6D35A1668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F766E"/>
                </a:solidFill>
              </a:defRPr>
            </a:pPr>
            <a:r>
              <a:rPr sz="975" b="1">
                <a:solidFill>
                  <a:srgbClr val="0F766E"/>
                </a:solidFill>
              </a:rPr>
              <a:t>COTIVITI OPPORTUNITY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ECA06C-9437-43E2-9BF7-6A2DECA23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933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01820"/>
                </a:solidFill>
              </a:defRPr>
            </a:pPr>
            <a:r>
              <a:rPr sz="2925" b="1">
                <a:solidFill>
                  <a:srgbClr val="101820"/>
                </a:solidFill>
              </a:rPr>
              <a:t>A natural extension of payment accuracy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F2252C-D161-4B7B-BC8A-BBFEE25E3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5730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975"/>
                </a:solidFill>
              </a:defRPr>
            </a:pPr>
            <a:r>
              <a:rPr sz="1500" b="0">
                <a:solidFill>
                  <a:srgbClr val="5F6975"/>
                </a:solidFill>
              </a:rPr>
              <a:t>The strongest angle is not novelty alone. It is a practical layer on top of Cotiviti's existing strengths.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C015ED-4C17-48EB-9482-79739832E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52650"/>
            <a:ext cx="3448050" cy="295275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E5EDF7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658876-7298-4078-B693-0D1B0CA83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00300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5B9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B9A448-93BE-4B30-BEC7-9EE573404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57500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0"/>
                </a:solidFill>
              </a:defRPr>
            </a:pPr>
            <a:r>
              <a:rPr sz="1875" b="1">
                <a:solidFill>
                  <a:srgbClr val="101820"/>
                </a:solidFill>
              </a:rPr>
              <a:t>Payment accuracy foundation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B6EC0C-8D8A-428B-A753-0FC0B3977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0"/>
            <a:ext cx="2857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0"/>
                </a:solidFill>
              </a:defRPr>
            </a:pPr>
            <a:r>
              <a:rPr sz="1350" b="0">
                <a:solidFill>
                  <a:srgbClr val="101820"/>
                </a:solidFill>
              </a:rPr>
              <a:t>Cotiviti already operates across claim accuracy, payment policy, coding validation, clinical review, data mining, contracts, coordination of benefits, and FWA review.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11917E-3D84-4E89-BFFC-C5A27BA72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152650"/>
            <a:ext cx="3448050" cy="295275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D9F0E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F1290A-CB8F-4223-894C-43D2C355A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400300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312294-98CF-4A32-874E-1E04E1D0E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857500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0"/>
                </a:solidFill>
              </a:defRPr>
            </a:pPr>
            <a:r>
              <a:rPr sz="1875" b="1">
                <a:solidFill>
                  <a:srgbClr val="101820"/>
                </a:solidFill>
              </a:rPr>
              <a:t>Interoperability flywheel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28B488-9D95-46A3-BFEF-149548DAC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619500"/>
            <a:ext cx="2857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0"/>
                </a:solidFill>
              </a:defRPr>
            </a:pPr>
            <a:r>
              <a:rPr sz="1350" b="0">
                <a:solidFill>
                  <a:srgbClr val="101820"/>
                </a:solidFill>
              </a:rPr>
              <a:t>The Edifecs acquisition can strengthen the data fabric needed for connected claim, policy, encounter, and contract evidence.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085DDA-91B3-4688-BD0A-8581677AE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152650"/>
            <a:ext cx="3448050" cy="295275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FFF0D6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B76C0F-8ECC-4AAE-88F6-2145B0014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00300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6A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3425AB-F16C-4A0A-84B5-B81B69597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57500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0"/>
                </a:solidFill>
              </a:defRPr>
            </a:pPr>
            <a:r>
              <a:rPr sz="1875" b="1">
                <a:solidFill>
                  <a:srgbClr val="101820"/>
                </a:solidFill>
              </a:rPr>
              <a:t>Managed-service trust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DD3D47-583E-43EA-91DA-484C4CD4D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619500"/>
            <a:ext cx="2857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0"/>
                </a:solidFill>
              </a:defRPr>
            </a:pPr>
            <a:r>
              <a:rPr sz="1350" b="0">
                <a:solidFill>
                  <a:srgbClr val="101820"/>
                </a:solidFill>
              </a:rPr>
              <a:t>Cotiviti can package evidence cards with specialist review, case tracking, client governance, and provider-facing defensibility.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846112-3363-47C4-92E8-0958FD4C4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00700"/>
            <a:ext cx="1066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0"/>
                </a:solidFill>
              </a:defRPr>
            </a:pPr>
            <a:r>
              <a:rPr sz="1800" b="1">
                <a:solidFill>
                  <a:srgbClr val="101820"/>
                </a:solidFill>
              </a:rPr>
              <a:t>Positioning: broaden learning across payers without broadening raw data exposure.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CBA0F7-1604-494F-AFF9-280CD7EBE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933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975"/>
                </a:solidFill>
              </a:defRPr>
            </a:pPr>
            <a:r>
              <a:rPr sz="825" b="0">
                <a:solidFill>
                  <a:srgbClr val="5F6975"/>
                </a:solidFill>
              </a:rPr>
              <a:t>Sources: Cotiviti payment accuracy pages; Cotiviti Edifecs acquisition announcement.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288F3CE-3459-42CA-86F9-D863B8714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865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F6975"/>
                </a:solidFill>
              </a:defRPr>
            </a:pPr>
            <a:r>
              <a:rPr sz="1125" b="0">
                <a:solidFill>
                  <a:srgbClr val="5F6975"/>
                </a:solidFill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90260946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41DE575-4BD1-4F2C-949F-4FCF6DF39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F766E"/>
                </a:solidFill>
              </a:defRPr>
            </a:pPr>
            <a:r>
              <a:rPr sz="975" b="1">
                <a:solidFill>
                  <a:srgbClr val="0F766E"/>
                </a:solidFill>
              </a:rPr>
              <a:t>THREATS AND GUARDRAILS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08D111-8175-4377-89F8-CCC99952A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933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01820"/>
                </a:solidFill>
              </a:defRPr>
            </a:pPr>
            <a:r>
              <a:rPr sz="2925" b="1">
                <a:solidFill>
                  <a:srgbClr val="101820"/>
                </a:solidFill>
              </a:rPr>
              <a:t>Do not ship a black box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F941D8-EAEF-4B48-AA27-51BF41AA1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5730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975"/>
                </a:solidFill>
              </a:defRPr>
            </a:pPr>
            <a:r>
              <a:rPr sz="1500" b="0">
                <a:solidFill>
                  <a:srgbClr val="5F6975"/>
                </a:solidFill>
              </a:rPr>
              <a:t>The strategic risk is not that the model is imperfect. The risk is acting on a score without context, controls, or accountability.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D25E55-066A-4D26-87A7-4068D197A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38350"/>
            <a:ext cx="95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E66EA7-6E7A-4832-8904-F81335AB7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193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01820"/>
                </a:solidFill>
              </a:defRPr>
            </a:pPr>
            <a:r>
              <a:rPr sz="1725" b="1">
                <a:solidFill>
                  <a:srgbClr val="101820"/>
                </a:solidFill>
              </a:rPr>
              <a:t>False positives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6C26E8-3F59-4187-90CD-0D6691238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038350"/>
            <a:ext cx="3390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975"/>
                </a:solidFill>
              </a:defRPr>
            </a:pPr>
            <a:r>
              <a:rPr sz="1350" b="0">
                <a:solidFill>
                  <a:srgbClr val="5F6975"/>
                </a:solidFill>
              </a:rPr>
              <a:t>Lead fatigue, delayed payment, and provider abrasion.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C6DCFB-51C5-4E99-A758-725C4ED76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1943100"/>
            <a:ext cx="44767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88D0D7-EF49-43BB-BCE2-898408AF7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105025"/>
            <a:ext cx="400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0"/>
                </a:solidFill>
              </a:defRPr>
            </a:pPr>
            <a:r>
              <a:rPr sz="1350" b="0">
                <a:solidFill>
                  <a:srgbClr val="101820"/>
                </a:solidFill>
              </a:rPr>
              <a:t>Calibrate thresholds by domain and require human review before action.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BAA845-86DF-4C82-B8A8-112B1CE00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952750"/>
            <a:ext cx="95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6A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A5A150-47AE-41E6-B7EF-91B36A848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337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01820"/>
                </a:solidFill>
              </a:defRPr>
            </a:pPr>
            <a:r>
              <a:rPr sz="1725" b="1">
                <a:solidFill>
                  <a:srgbClr val="101820"/>
                </a:solidFill>
              </a:rPr>
              <a:t>Bias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C6C627-01D6-4EA4-BA02-9AE3D3B77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952750"/>
            <a:ext cx="3390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975"/>
                </a:solidFill>
              </a:defRPr>
            </a:pPr>
            <a:r>
              <a:rPr sz="1350" b="0">
                <a:solidFill>
                  <a:srgbClr val="5F6975"/>
                </a:solidFill>
              </a:rPr>
              <a:t>Payer mix and access patterns can masquerade as misconduct.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9A408C-470C-4C85-958E-20D6233AF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857500"/>
            <a:ext cx="44767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7D516E-736C-4009-BEC8-09619DA82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019425"/>
            <a:ext cx="400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0"/>
                </a:solidFill>
              </a:defRPr>
            </a:pPr>
            <a:r>
              <a:rPr sz="1350" b="0">
                <a:solidFill>
                  <a:srgbClr val="101820"/>
                </a:solidFill>
              </a:rPr>
              <a:t>Monitor cohorts, explain features, and use appeal outcomes as feedback.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CE8D79-4F04-407C-A3D4-85561DBD0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67150"/>
            <a:ext cx="95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5B9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D07D05-159E-4194-8F33-350C9F474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481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01820"/>
                </a:solidFill>
              </a:defRPr>
            </a:pPr>
            <a:r>
              <a:rPr sz="1725" b="1">
                <a:solidFill>
                  <a:srgbClr val="101820"/>
                </a:solidFill>
              </a:rPr>
              <a:t>Privacy leakage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1A68BA-D519-4041-B7FC-BD3864544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867150"/>
            <a:ext cx="3390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975"/>
                </a:solidFill>
              </a:defRPr>
            </a:pPr>
            <a:r>
              <a:rPr sz="1350" b="0">
                <a:solidFill>
                  <a:srgbClr val="5F6975"/>
                </a:solidFill>
              </a:rPr>
              <a:t>Model updates and aggregates can reveal sensitive patterns.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D0AFAC9-C968-4249-B797-88A8C36FB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771900"/>
            <a:ext cx="44767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1C43974-44D0-49DC-BE4E-1912FEDAE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933825"/>
            <a:ext cx="400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0"/>
                </a:solidFill>
              </a:defRPr>
            </a:pPr>
            <a:r>
              <a:rPr sz="1350" b="0">
                <a:solidFill>
                  <a:srgbClr val="101820"/>
                </a:solidFill>
              </a:rPr>
              <a:t>Use secure aggregation, minimum cohort sizes, and client approval gates.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8C26BD-694C-4279-A33D-CD47B02FA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81550"/>
            <a:ext cx="95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6CC1B0E-0AE4-475C-A15A-78899B4A8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625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01820"/>
                </a:solidFill>
              </a:defRPr>
            </a:pPr>
            <a:r>
              <a:rPr sz="1725" b="1">
                <a:solidFill>
                  <a:srgbClr val="101820"/>
                </a:solidFill>
              </a:rPr>
              <a:t>Adversarial adaptation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4EAD4E3-4AA0-4AB5-953D-01F8E2D27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781550"/>
            <a:ext cx="3390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975"/>
                </a:solidFill>
              </a:defRPr>
            </a:pPr>
            <a:r>
              <a:rPr sz="1350" b="0">
                <a:solidFill>
                  <a:srgbClr val="5F6975"/>
                </a:solidFill>
              </a:rPr>
              <a:t>Fraud patterns shift once signals are learned.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2CB397E-1053-46AF-BFDB-AF5D7E3EA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686300"/>
            <a:ext cx="44767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8D5D2ED-0967-46AD-9FA7-A102BCF3C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848225"/>
            <a:ext cx="400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0"/>
                </a:solidFill>
              </a:defRPr>
            </a:pPr>
            <a:r>
              <a:rPr sz="1350" b="0">
                <a:solidFill>
                  <a:srgbClr val="101820"/>
                </a:solidFill>
              </a:rPr>
              <a:t>Track drift, rotate features, and treat investigator notes as signal.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A9D012E-0009-485D-A6C8-8ED9D7B7B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933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975"/>
                </a:solidFill>
              </a:defRPr>
            </a:pPr>
            <a:r>
              <a:rPr sz="825" b="0">
                <a:solidFill>
                  <a:srgbClr val="5F6975"/>
                </a:solidFill>
              </a:rPr>
              <a:t>Governance frame aligned to NIST AI RMF: govern, map, measure, manage.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5D1DC8B-7EA6-4D26-A861-989A82B76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865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F6975"/>
                </a:solidFill>
              </a:defRPr>
            </a:pPr>
            <a:r>
              <a:rPr sz="1125" b="0">
                <a:solidFill>
                  <a:srgbClr val="5F6975"/>
                </a:solidFill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71515496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D0DB9F0-70B1-459E-927D-8C5782B92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F766E"/>
                </a:solidFill>
              </a:defRPr>
            </a:pPr>
            <a:r>
              <a:rPr sz="975" b="1">
                <a:solidFill>
                  <a:srgbClr val="0F766E"/>
                </a:solidFill>
              </a:rPr>
              <a:t>STRATEGIC OPTIONS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F1DAFB-3D9A-4345-BA84-A34E70F0E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933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01820"/>
                </a:solidFill>
              </a:defRPr>
            </a:pPr>
            <a:r>
              <a:rPr sz="2925" b="1">
                <a:solidFill>
                  <a:srgbClr val="101820"/>
                </a:solidFill>
              </a:rPr>
              <a:t>Three investable moves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E8C59C-386B-4CC7-B8F2-5F0B501AC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5730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975"/>
                </a:solidFill>
              </a:defRPr>
            </a:pPr>
            <a:r>
              <a:rPr sz="1500" b="0">
                <a:solidFill>
                  <a:srgbClr val="5F6975"/>
                </a:solidFill>
              </a:rPr>
              <a:t>The recommendation is to start narrow, prove lift, then turn the evidence card into a reusable product layer.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3B73DC-BC49-48DB-9497-079FA01D1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95500"/>
            <a:ext cx="3448050" cy="2724150"/>
          </a:xfrm>
          <a:prstGeom xmlns:a="http://schemas.openxmlformats.org/drawingml/2006/main" prst="roundRect">
            <a:avLst>
              <a:gd name="adj" fmla="val 27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34D9D4-8391-4BFA-A9D7-253C25168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43150"/>
            <a:ext cx="438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5B9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6353CB-F311-4B77-950B-BF2D8B4B2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19350"/>
            <a:ext cx="438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FAEFDD-EE19-40A5-B523-18AF6159A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28950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0"/>
                </a:solidFill>
              </a:defRPr>
            </a:pPr>
            <a:r>
              <a:rPr sz="1875" b="1">
                <a:solidFill>
                  <a:srgbClr val="101820"/>
                </a:solidFill>
              </a:rPr>
              <a:t>Claim-Graph Utility Layer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569665-5D05-492B-AEE3-64798FA19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14750"/>
            <a:ext cx="28575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975"/>
                </a:solidFill>
              </a:defRPr>
            </a:pPr>
            <a:r>
              <a:rPr sz="1275" b="0">
                <a:solidFill>
                  <a:srgbClr val="5F6975"/>
                </a:solidFill>
              </a:rPr>
              <a:t>Create reusable entities, edges, graph features, and explainers for prepay and postpay analytics.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EE2B7B-9E8F-4445-B55A-AFA4DE5B3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095500"/>
            <a:ext cx="3448050" cy="2724150"/>
          </a:xfrm>
          <a:prstGeom xmlns:a="http://schemas.openxmlformats.org/drawingml/2006/main" prst="roundRect">
            <a:avLst>
              <a:gd name="adj" fmla="val 27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B82EEC-7A1A-486A-8B92-46EC9F087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343150"/>
            <a:ext cx="438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3B95E3-E453-4295-88B0-4E974FB57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419350"/>
            <a:ext cx="438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202461-B507-43CC-8D66-37D7B4351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028950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0"/>
                </a:solidFill>
              </a:defRPr>
            </a:pPr>
            <a:r>
              <a:rPr sz="1875" b="1">
                <a:solidFill>
                  <a:srgbClr val="101820"/>
                </a:solidFill>
              </a:rPr>
              <a:t>Cross-Payer Signal Exchange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74A441-B24F-4C28-8CA1-CD5575F47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714750"/>
            <a:ext cx="28575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975"/>
                </a:solidFill>
              </a:defRPr>
            </a:pPr>
            <a:r>
              <a:rPr sz="1275" b="0">
                <a:solidFill>
                  <a:srgbClr val="5F6975"/>
                </a:solidFill>
              </a:rPr>
              <a:t>Pilot privacy-preserving aggregate learning where raw claims remain inside each client boundary.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0A6487-46E3-406C-889C-7F7BFAA69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095500"/>
            <a:ext cx="3448050" cy="2724150"/>
          </a:xfrm>
          <a:prstGeom xmlns:a="http://schemas.openxmlformats.org/drawingml/2006/main" prst="roundRect">
            <a:avLst>
              <a:gd name="adj" fmla="val 27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A6DBE8-2FBE-48DF-B7AF-7C8D341B6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343150"/>
            <a:ext cx="438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6A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99087B-BB19-414F-A918-C564CCFE4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419350"/>
            <a:ext cx="438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21DED72-E84C-427E-BF7C-E048CD64F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028950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0"/>
                </a:solidFill>
              </a:defRPr>
            </a:pPr>
            <a:r>
              <a:rPr sz="1875" b="1">
                <a:solidFill>
                  <a:srgbClr val="101820"/>
                </a:solidFill>
              </a:rPr>
              <a:t>Evidence Card Product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4BD865-CE86-43BA-A59B-439BF3D37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714750"/>
            <a:ext cx="28575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975"/>
                </a:solidFill>
              </a:defRPr>
            </a:pPr>
            <a:r>
              <a:rPr sz="1275" b="0">
                <a:solidFill>
                  <a:srgbClr val="5F6975"/>
                </a:solidFill>
              </a:rPr>
              <a:t>Show graph path, peer comparison, time-series change, code-policy rationale, confidence, model-card note, reviewer override reason, and next action.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47F007D-7083-4B14-92FA-DEFF8ADFC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91125"/>
            <a:ext cx="1095375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D9F0E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9F0A367-1327-4F41-842D-76C60D311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362575"/>
            <a:ext cx="10382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01820"/>
                </a:solidFill>
              </a:defRPr>
            </a:pPr>
            <a:r>
              <a:rPr sz="1425" b="1">
                <a:solidFill>
                  <a:srgbClr val="101820"/>
                </a:solidFill>
              </a:rPr>
              <a:t>Recommended starting point: pair Option 3 with a narrow Option 2 shadow-mode pilot in one domain such as wound care, DME, high-volume labs, or behavioral health.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32298FE-24A8-4C63-8DB9-6009E9861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933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DFB01D4-B812-4CFA-98A9-290642F66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865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F6975"/>
                </a:solidFill>
              </a:defRPr>
            </a:pPr>
            <a:r>
              <a:rPr sz="1125" b="0">
                <a:solidFill>
                  <a:srgbClr val="5F6975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75304087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91AA007-2EA8-4069-B409-1CA2AF93B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F766E"/>
                </a:solidFill>
              </a:defRPr>
            </a:pPr>
            <a:r>
              <a:rPr sz="975" b="1">
                <a:solidFill>
                  <a:srgbClr val="0F766E"/>
                </a:solidFill>
              </a:rPr>
              <a:t>HACKATHON POC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CDD0B6-7C46-4197-A267-54EE96473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933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01820"/>
                </a:solidFill>
              </a:defRPr>
            </a:pPr>
            <a:r>
              <a:rPr sz="2925" b="1">
                <a:solidFill>
                  <a:srgbClr val="101820"/>
                </a:solidFill>
              </a:rPr>
              <a:t>Claim Integrity Radar 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3C259C-F419-45E2-A1E3-3DD41D58F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5730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975"/>
                </a:solidFill>
              </a:defRPr>
            </a:pPr>
            <a:r>
              <a:rPr sz="1500" b="0">
                <a:solidFill>
                  <a:srgbClr val="5F6975"/>
                </a:solidFill>
              </a:rPr>
              <a:t>The prototype proves the first principles without overbuilding.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8DB9FC-EF1B-4C4A-842D-082B011CE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23812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A08460-8E8E-4F1B-9987-35C666441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09850"/>
            <a:ext cx="200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01820"/>
                </a:solidFill>
              </a:defRPr>
            </a:pPr>
            <a:r>
              <a:rPr sz="1725" b="1">
                <a:solidFill>
                  <a:srgbClr val="101820"/>
                </a:solidFill>
              </a:rPr>
              <a:t>Synthetic claims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86F95C-7903-4FB3-8889-D4C4D0D11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432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975"/>
                </a:solidFill>
              </a:defRPr>
            </a:pPr>
            <a:r>
              <a:rPr sz="1275" b="0">
                <a:solidFill>
                  <a:srgbClr val="5F6975"/>
                </a:solidFill>
              </a:rPr>
              <a:t>Generate payer, provider, member, CPT, diagnosis, modifier, week, units, and amount.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92202D-3823-4D30-94CE-0CC600608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028950"/>
            <a:ext cx="342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D9DEE5"/>
                </a:solidFill>
              </a:defRPr>
            </a:pPr>
            <a:r>
              <a:rPr sz="3150" b="1">
                <a:solidFill>
                  <a:srgbClr val="D9DEE5"/>
                </a:solidFill>
              </a:rPr>
              <a:t>&gt;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536661-232E-48D1-ACF9-60F3FA74C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362200"/>
            <a:ext cx="23812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82B272-10CE-4215-819F-F6EEEC478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609850"/>
            <a:ext cx="200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01820"/>
                </a:solidFill>
              </a:defRPr>
            </a:pPr>
            <a:r>
              <a:rPr sz="1725" b="1">
                <a:solidFill>
                  <a:srgbClr val="101820"/>
                </a:solidFill>
              </a:rPr>
              <a:t>Local baselines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2204D8-0A35-48E0-9852-AB83A6FD8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1432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975"/>
                </a:solidFill>
              </a:defRPr>
            </a:pPr>
            <a:r>
              <a:rPr sz="1275" b="0">
                <a:solidFill>
                  <a:srgbClr val="5F6975"/>
                </a:solidFill>
              </a:rPr>
              <a:t>Train peer norms by client, domain, specialty, procedure, and week.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8FF100-D720-4FB1-9FB0-99F06D6D0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028950"/>
            <a:ext cx="342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D9DEE5"/>
                </a:solidFill>
              </a:defRPr>
            </a:pPr>
            <a:r>
              <a:rPr sz="3150" b="1">
                <a:solidFill>
                  <a:srgbClr val="D9DEE5"/>
                </a:solidFill>
              </a:rPr>
              <a:t>&gt;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B52656-1C5E-426C-B1D6-97DB85410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362200"/>
            <a:ext cx="23812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D9F0EC"/>
          </a:solidFill>
          <a:ln xmlns:a="http://schemas.openxmlformats.org/drawingml/2006/main" w="9525">
            <a:solidFill>
              <a:srgbClr val="D9DEE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F4DCE2-7565-4631-A7AF-16EF01F04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609850"/>
            <a:ext cx="200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01820"/>
                </a:solidFill>
              </a:defRPr>
            </a:pPr>
            <a:r>
              <a:rPr sz="1725" b="1">
                <a:solidFill>
                  <a:srgbClr val="101820"/>
                </a:solidFill>
              </a:rPr>
              <a:t>Federated summary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E8726E-31A3-49E6-8724-87967F73D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1432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975"/>
                </a:solidFill>
              </a:defRPr>
            </a:pPr>
            <a:r>
              <a:rPr sz="1275" b="0">
                <a:solidFill>
                  <a:srgbClr val="5F6975"/>
                </a:solidFill>
              </a:rPr>
              <a:t>Share aggregate percentiles and drift signals only. Raw member records stay local.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DB7206-F32E-4C8F-BDC2-4AC6AD887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028950"/>
            <a:ext cx="342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D9DEE5"/>
                </a:solidFill>
              </a:defRPr>
            </a:pPr>
            <a:r>
              <a:rPr sz="3150" b="1">
                <a:solidFill>
                  <a:srgbClr val="D9DEE5"/>
                </a:solidFill>
              </a:rPr>
              <a:t>&gt;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15385C-0DD7-45E7-A49E-EE1A279F6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362200"/>
            <a:ext cx="23812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EB9CDC-3DA8-480F-8ADB-307B6F0FE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609850"/>
            <a:ext cx="200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01820"/>
                </a:solidFill>
              </a:defRPr>
            </a:pPr>
            <a:r>
              <a:rPr sz="1725" b="1">
                <a:solidFill>
                  <a:srgbClr val="101820"/>
                </a:solidFill>
              </a:rPr>
              <a:t>Evidence card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E989C42-E76F-4928-BD97-8E182B269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1432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975"/>
                </a:solidFill>
              </a:defRPr>
            </a:pPr>
            <a:r>
              <a:rPr sz="1275" b="0">
                <a:solidFill>
                  <a:srgbClr val="5F6975"/>
                </a:solidFill>
              </a:rPr>
              <a:t>Score anomalies, render graph paths, and recommend a human review action.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8C5542-F240-4F29-BB3E-49A8BAEA3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876800"/>
            <a:ext cx="94869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E0549DE-D8D9-4ADF-AB21-E3ED6BC50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057775"/>
            <a:ext cx="8858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820"/>
                </a:solidFill>
              </a:defRPr>
            </a:pPr>
            <a:r>
              <a:rPr sz="1650" b="1">
                <a:solidFill>
                  <a:srgbClr val="101820"/>
                </a:solidFill>
              </a:rPr>
              <a:t>Proof point: the demo can be shown in under three minutes, and every score has a reviewer-readable evidence card.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910276C-8341-427C-9340-4207CFFA6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933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D240BE4-9131-4EBC-837D-2501F2FD9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865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F6975"/>
                </a:solidFill>
              </a:defRPr>
            </a:pPr>
            <a:r>
              <a:rPr sz="1125" b="0">
                <a:solidFill>
                  <a:srgbClr val="5F6975"/>
                </a:solidFill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84089097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9A9852F-1DCD-4E12-90D5-4C8216E74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F766E"/>
                </a:solidFill>
              </a:defRPr>
            </a:pPr>
            <a:r>
              <a:rPr sz="975" b="1">
                <a:solidFill>
                  <a:srgbClr val="0F766E"/>
                </a:solidFill>
              </a:rPr>
              <a:t>DEMO WALKTHROUGH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2A9FFE-0BA1-4431-B0D9-C2CCA75F1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933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01820"/>
                </a:solidFill>
              </a:defRPr>
            </a:pPr>
            <a:r>
              <a:rPr sz="2925" b="1">
                <a:solidFill>
                  <a:srgbClr val="101820"/>
                </a:solidFill>
              </a:rPr>
              <a:t>What the evaluator should notice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2E7DAB-82B1-4B1B-9E7A-3D088CC8D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5730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975"/>
                </a:solidFill>
              </a:defRPr>
            </a:pPr>
            <a:r>
              <a:rPr sz="1500" b="0">
                <a:solidFill>
                  <a:srgbClr val="5F6975"/>
                </a:solidFill>
              </a:rPr>
              <a:t>The demo is built to prove speed to value, not production completeness.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0918fe6add43ec"/>
          <a:srcRect xmlns:a="http://schemas.openxmlformats.org/drawingml/2006/main" l="0" t="4875" r="0" b="48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629150" y="1752600"/>
            <a:ext cx="6838950" cy="3857625"/>
          </a:xfrm>
          <a:prstGeom xmlns:a="http://schemas.openxmlformats.org/drawingml/2006/main" prst="roundRect">
            <a:avLst>
              <a:gd name="adj" fmla="val 1975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E84902-7687-4197-B0C7-750BF1E77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66900"/>
            <a:ext cx="3752850" cy="3733800"/>
          </a:xfrm>
          <a:prstGeom xmlns:a="http://schemas.openxmlformats.org/drawingml/2006/main" prst="roundRect">
            <a:avLst>
              <a:gd name="adj" fmla="val 2041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39CF91-2E91-4956-8784-6D3331867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003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5B9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F6F90E-3B3C-472E-B966-27C5EEF94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24100"/>
            <a:ext cx="2914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1820"/>
                </a:solidFill>
              </a:defRPr>
            </a:pPr>
            <a:r>
              <a:rPr sz="1425" b="0">
                <a:solidFill>
                  <a:srgbClr val="101820"/>
                </a:solidFill>
              </a:rPr>
              <a:t>Train Local Baselines: peer-group learning.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67410E-2085-49C8-B518-C554FEEBD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289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F1802E-6A77-4246-B6BC-496C0C9B3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52750"/>
            <a:ext cx="2914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1820"/>
                </a:solidFill>
              </a:defRPr>
            </a:pPr>
            <a:r>
              <a:rPr sz="1425" b="0">
                <a:solidFill>
                  <a:srgbClr val="101820"/>
                </a:solidFill>
              </a:rPr>
              <a:t>Share Federated Summary: zero raw records shared.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000C10-9CB4-4838-B654-4C75BAA47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57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6A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49F6E4-1C35-443C-B3E6-DF6417598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81400"/>
            <a:ext cx="2914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1820"/>
                </a:solidFill>
              </a:defRPr>
            </a:pPr>
            <a:r>
              <a:rPr sz="1425" b="0">
                <a:solidFill>
                  <a:srgbClr val="101820"/>
                </a:solidFill>
              </a:rPr>
              <a:t>Select high-risk claim: graph path plus evidence card.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5696A6-2645-47D1-88B9-382C02D42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9ED700-2474-46FA-A153-B682871F2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10050"/>
            <a:ext cx="2914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1820"/>
                </a:solidFill>
              </a:defRPr>
            </a:pPr>
            <a:r>
              <a:rPr sz="1425" b="0">
                <a:solidFill>
                  <a:srgbClr val="101820"/>
                </a:solidFill>
              </a:rPr>
              <a:t>Export Evidence Card: reviewer handoff.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293E46-DF0E-4E00-A885-407DFB24B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933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975"/>
                </a:solidFill>
              </a:defRPr>
            </a:pPr>
            <a:r>
              <a:rPr sz="825" b="0">
                <a:solidFill>
                  <a:srgbClr val="5F6975"/>
                </a:solidFill>
              </a:rPr>
              <a:t>Asset: screenshot from the included Claim Integrity Radar POC.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A5668F-DAD1-46E4-8628-25D2444EE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865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F6975"/>
                </a:solidFill>
              </a:defRPr>
            </a:pPr>
            <a:r>
              <a:rPr sz="1125" b="0">
                <a:solidFill>
                  <a:srgbClr val="5F6975"/>
                </a:solidFill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6007042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9EB631F-9D79-4379-8579-01E20A6A8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F766E"/>
                </a:solidFill>
              </a:defRPr>
            </a:pPr>
            <a:r>
              <a:rPr sz="975" b="1">
                <a:solidFill>
                  <a:srgbClr val="0F766E"/>
                </a:solidFill>
              </a:rPr>
              <a:t>RECOMMENDED NEXT STEP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00FCAD-DA17-4CF4-9DB4-17D328768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933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01820"/>
                </a:solidFill>
              </a:defRPr>
            </a:pPr>
            <a:r>
              <a:rPr sz="2925" b="1">
                <a:solidFill>
                  <a:srgbClr val="101820"/>
                </a:solidFill>
              </a:rPr>
              <a:t>A 90-day pilot for speed to value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DC1221-7DE8-470C-AC70-F82E02453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5730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975"/>
                </a:solidFill>
              </a:defRPr>
            </a:pPr>
            <a:r>
              <a:rPr sz="1500" b="0">
                <a:solidFill>
                  <a:srgbClr val="5F6975"/>
                </a:solidFill>
              </a:rPr>
              <a:t>Constrain the domain, measure lift, and decide whether to invest in a reusable layer.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A9B67F-BBBA-4AEF-A87D-E05378AF8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38350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55B9B"/>
                </a:solidFill>
              </a:defRPr>
            </a:pPr>
            <a:r>
              <a:rPr sz="1350" b="1">
                <a:solidFill>
                  <a:srgbClr val="255B9B"/>
                </a:solidFill>
              </a:rPr>
              <a:t>Weeks 1-2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9588CF-9A04-43C2-9008-9D177BAF7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009775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0"/>
                </a:solidFill>
              </a:defRPr>
            </a:pPr>
            <a:r>
              <a:rPr sz="1800" b="1">
                <a:solidFill>
                  <a:srgbClr val="101820"/>
                </a:solidFill>
              </a:rPr>
              <a:t>Pick one domain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3AD0F0-323F-4187-AB12-F3165ACEC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038350"/>
            <a:ext cx="590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975"/>
                </a:solidFill>
              </a:defRPr>
            </a:pPr>
            <a:r>
              <a:rPr sz="1350" b="0">
                <a:solidFill>
                  <a:srgbClr val="5F6975"/>
                </a:solidFill>
              </a:rPr>
              <a:t>Wound care, DME, high-volume labs, or behavioral health.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F9B304-DC2E-4DA5-B7C7-9B3199D65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527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82D73E-A887-426F-8ED1-0931E763B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76550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</a:defRPr>
            </a:pPr>
            <a:r>
              <a:rPr sz="1350" b="1">
                <a:solidFill>
                  <a:srgbClr val="0F766E"/>
                </a:solidFill>
              </a:rPr>
              <a:t>Weeks 3-6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1E3CAA-3A4D-4F4C-819D-A88C168DE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847975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0"/>
                </a:solidFill>
              </a:defRPr>
            </a:pPr>
            <a:r>
              <a:rPr sz="1800" b="1">
                <a:solidFill>
                  <a:srgbClr val="101820"/>
                </a:solidFill>
              </a:rPr>
              <a:t>Build graph features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3415CF-C448-4FAD-BD5C-74C21029F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876550"/>
            <a:ext cx="590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975"/>
                </a:solidFill>
              </a:defRPr>
            </a:pPr>
            <a:r>
              <a:rPr sz="1350" b="0">
                <a:solidFill>
                  <a:srgbClr val="5F6975"/>
                </a:solidFill>
              </a:rPr>
              <a:t>Entity resolution, peer baselines, time windows, and policy hooks.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C3CC07-7EC5-448B-922F-CAA91CB25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90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1BA09B-893A-44D3-9351-98C84C3A1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14750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6A00"/>
                </a:solidFill>
              </a:defRPr>
            </a:pPr>
            <a:r>
              <a:rPr sz="1350" b="1">
                <a:solidFill>
                  <a:srgbClr val="C56A00"/>
                </a:solidFill>
              </a:rPr>
              <a:t>Weeks 7-10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4B7EDF-3753-48C0-A050-FE680D0EA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686175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0"/>
                </a:solidFill>
              </a:defRPr>
            </a:pPr>
            <a:r>
              <a:rPr sz="1800" b="1">
                <a:solidFill>
                  <a:srgbClr val="101820"/>
                </a:solidFill>
              </a:rPr>
              <a:t>Shadow-mode comparison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0AE3BA-67F6-4D9C-98FE-9922E050D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714750"/>
            <a:ext cx="590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975"/>
                </a:solidFill>
              </a:defRPr>
            </a:pPr>
            <a:r>
              <a:rPr sz="1350" b="0">
                <a:solidFill>
                  <a:srgbClr val="5F6975"/>
                </a:solidFill>
              </a:rPr>
              <a:t>Precision, recall proxy, reviewer agreement, provider abrasion, and turnaround.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2E1400-7FEF-4FDC-9BF0-B74DE6516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2291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679527-AC09-4AC6-8884-99B87F4D9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52950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42318"/>
                </a:solidFill>
              </a:defRPr>
            </a:pPr>
            <a:r>
              <a:rPr sz="1350" b="1">
                <a:solidFill>
                  <a:srgbClr val="B42318"/>
                </a:solidFill>
              </a:rPr>
              <a:t>Weeks 11-12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FABED5B-AB9F-44E2-B214-913FAEE65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524375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0"/>
                </a:solidFill>
              </a:defRPr>
            </a:pPr>
            <a:r>
              <a:rPr sz="1800" b="1">
                <a:solidFill>
                  <a:srgbClr val="101820"/>
                </a:solidFill>
              </a:rPr>
              <a:t>Investment decision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80A174-37DC-486D-AE04-3F4AF95AC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552950"/>
            <a:ext cx="590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975"/>
                </a:solidFill>
              </a:defRPr>
            </a:pPr>
            <a:r>
              <a:rPr sz="1350" b="0">
                <a:solidFill>
                  <a:srgbClr val="5F6975"/>
                </a:solidFill>
              </a:rPr>
              <a:t>Scale, pivot, or stop based on lift and governance readiness.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F70C728-B886-46E2-9AE5-E25A3C50E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0673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F8BC962-3B7C-44CA-834C-8135ED010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0"/>
            <a:ext cx="990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01820"/>
                </a:solidFill>
              </a:defRPr>
            </a:pPr>
            <a:r>
              <a:rPr sz="2550" b="1">
                <a:solidFill>
                  <a:srgbClr val="101820"/>
                </a:solidFill>
              </a:rPr>
              <a:t>Close with the thesis: no score without a story.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259F7C5-DE98-4028-AF83-CE568BAB3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57900"/>
            <a:ext cx="990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F6975"/>
                </a:solidFill>
              </a:defRPr>
            </a:pPr>
            <a:r>
              <a:rPr sz="1500" b="1">
                <a:solidFill>
                  <a:srgbClr val="5F6975"/>
                </a:solidFill>
              </a:rPr>
              <a:t>The cockpit supports reviewers rather than replacing them.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4457FCE-5887-48B5-B0ED-1DE293D04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933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3CD235B-CB2F-4BFF-B655-CC94CEBBA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865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F6975"/>
                </a:solidFill>
              </a:defRPr>
            </a:pPr>
            <a:r>
              <a:rPr sz="1125" b="0">
                <a:solidFill>
                  <a:srgbClr val="5F6975"/>
                </a:solidFill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01952452"/>
      </p:ext>
    </p:extLst>
  </p:cSld>
</p:sld>
</file>

<file path=ppt/theme/theme1.xml><?xml version="1.0" encoding="utf-8"?>
<a:theme xmlns:a="http://schemas.openxmlformats.org/drawingml/2006/main" name="Cotiviti">
  <a:themeElements>
    <a:clrScheme name="Cotiviti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otiviti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2026-06-29T14:17:26.3190000Z</dcterms:created>
  <dcterms:modified xsi:type="dcterms:W3CDTF">2026-06-29T14:17:26.3190000Z</dcterms:modified>
</coreProperties>
</file>